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2"/>
  </p:notesMasterIdLst>
  <p:handoutMasterIdLst>
    <p:handoutMasterId r:id="rId23"/>
  </p:handoutMasterIdLst>
  <p:sldIdLst>
    <p:sldId id="269" r:id="rId2"/>
    <p:sldId id="274" r:id="rId3"/>
    <p:sldId id="278" r:id="rId4"/>
    <p:sldId id="277" r:id="rId5"/>
    <p:sldId id="279" r:id="rId6"/>
    <p:sldId id="281" r:id="rId7"/>
    <p:sldId id="280" r:id="rId8"/>
    <p:sldId id="322" r:id="rId9"/>
    <p:sldId id="282" r:id="rId10"/>
    <p:sldId id="283" r:id="rId11"/>
    <p:sldId id="288" r:id="rId12"/>
    <p:sldId id="284" r:id="rId13"/>
    <p:sldId id="285" r:id="rId14"/>
    <p:sldId id="306" r:id="rId15"/>
    <p:sldId id="286" r:id="rId16"/>
    <p:sldId id="287" r:id="rId17"/>
    <p:sldId id="292" r:id="rId18"/>
    <p:sldId id="323" r:id="rId19"/>
    <p:sldId id="325" r:id="rId20"/>
    <p:sldId id="332" r:id="rId21"/>
  </p:sldIdLst>
  <p:sldSz cx="9144000" cy="6858000" type="screen4x3"/>
  <p:notesSz cx="7102475" cy="93884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966">
          <p15:clr>
            <a:srgbClr val="A4A3A4"/>
          </p15:clr>
        </p15:guide>
        <p15:guide id="2" pos="224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A"/>
    <a:srgbClr val="00FF00"/>
    <a:srgbClr val="C0C0C0"/>
    <a:srgbClr val="00CC99"/>
    <a:srgbClr val="00CC66"/>
    <a:srgbClr val="FF33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6" autoAdjust="0"/>
    <p:restoredTop sz="94718" autoAdjust="0"/>
  </p:normalViewPr>
  <p:slideViewPr>
    <p:cSldViewPr snapToGrid="0">
      <p:cViewPr varScale="1">
        <p:scale>
          <a:sx n="64" d="100"/>
          <a:sy n="64" d="100"/>
        </p:scale>
        <p:origin x="-1488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9" d="100"/>
          <a:sy n="59" d="100"/>
        </p:scale>
        <p:origin x="-1692" y="-72"/>
      </p:cViewPr>
      <p:guideLst>
        <p:guide orient="horz" pos="2957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9.xml"/><Relationship Id="rId13" Type="http://schemas.openxmlformats.org/officeDocument/2006/relationships/slide" Target="slides/slide14.xml"/><Relationship Id="rId3" Type="http://schemas.openxmlformats.org/officeDocument/2006/relationships/slide" Target="slides/slide3.xml"/><Relationship Id="rId7" Type="http://schemas.openxmlformats.org/officeDocument/2006/relationships/slide" Target="slides/slide7.xml"/><Relationship Id="rId12" Type="http://schemas.openxmlformats.org/officeDocument/2006/relationships/slide" Target="slides/slide13.xml"/><Relationship Id="rId17" Type="http://schemas.openxmlformats.org/officeDocument/2006/relationships/slide" Target="slides/slide20.xml"/><Relationship Id="rId2" Type="http://schemas.openxmlformats.org/officeDocument/2006/relationships/slide" Target="slides/slide2.xml"/><Relationship Id="rId16" Type="http://schemas.openxmlformats.org/officeDocument/2006/relationships/slide" Target="slides/slide17.xml"/><Relationship Id="rId1" Type="http://schemas.openxmlformats.org/officeDocument/2006/relationships/slide" Target="slides/slide1.xml"/><Relationship Id="rId6" Type="http://schemas.openxmlformats.org/officeDocument/2006/relationships/slide" Target="slides/slide6.xml"/><Relationship Id="rId11" Type="http://schemas.openxmlformats.org/officeDocument/2006/relationships/slide" Target="slides/slide12.xml"/><Relationship Id="rId5" Type="http://schemas.openxmlformats.org/officeDocument/2006/relationships/slide" Target="slides/slide5.xml"/><Relationship Id="rId15" Type="http://schemas.openxmlformats.org/officeDocument/2006/relationships/slide" Target="slides/slide16.xml"/><Relationship Id="rId10" Type="http://schemas.openxmlformats.org/officeDocument/2006/relationships/slide" Target="slides/slide11.xml"/><Relationship Id="rId4" Type="http://schemas.openxmlformats.org/officeDocument/2006/relationships/slide" Target="slides/slide4.xml"/><Relationship Id="rId9" Type="http://schemas.openxmlformats.org/officeDocument/2006/relationships/slide" Target="slides/slide10.xml"/><Relationship Id="rId14" Type="http://schemas.openxmlformats.org/officeDocument/2006/relationships/slide" Target="slides/slide1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77792" cy="46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6" tIns="47113" rIns="94226" bIns="47113" numCol="1" anchor="t" anchorCtr="0" compatLnSpc="1">
            <a:prstTxWarp prst="textNoShape">
              <a:avLst/>
            </a:prstTxWarp>
          </a:bodyPr>
          <a:lstStyle>
            <a:lvl1pPr defTabSz="942649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683" y="0"/>
            <a:ext cx="3077792" cy="46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6" tIns="47113" rIns="94226" bIns="47113" numCol="1" anchor="t" anchorCtr="0" compatLnSpc="1">
            <a:prstTxWarp prst="textNoShape">
              <a:avLst/>
            </a:prstTxWarp>
          </a:bodyPr>
          <a:lstStyle>
            <a:lvl1pPr algn="r" defTabSz="942649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918497"/>
            <a:ext cx="3077792" cy="46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6" tIns="47113" rIns="94226" bIns="47113" numCol="1" anchor="b" anchorCtr="0" compatLnSpc="1">
            <a:prstTxWarp prst="textNoShape">
              <a:avLst/>
            </a:prstTxWarp>
          </a:bodyPr>
          <a:lstStyle>
            <a:lvl1pPr defTabSz="942649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683" y="8918497"/>
            <a:ext cx="3077792" cy="46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6" tIns="47113" rIns="94226" bIns="47113" numCol="1" anchor="b" anchorCtr="0" compatLnSpc="1">
            <a:prstTxWarp prst="textNoShape">
              <a:avLst/>
            </a:prstTxWarp>
          </a:bodyPr>
          <a:lstStyle>
            <a:lvl1pPr algn="r" defTabSz="942649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35BE597C-1D20-4153-BB5C-80B18BE382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77792" cy="46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02" tIns="45551" rIns="91102" bIns="4555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3103" y="0"/>
            <a:ext cx="3077791" cy="46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02" tIns="45551" rIns="91102" bIns="4555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4913" y="704850"/>
            <a:ext cx="4692650" cy="35194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16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774" y="4459249"/>
            <a:ext cx="5682928" cy="4225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02" tIns="45551" rIns="91102" bIns="4555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16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916916"/>
            <a:ext cx="3077792" cy="469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02" tIns="45551" rIns="91102" bIns="4555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16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3103" y="8916916"/>
            <a:ext cx="3077791" cy="469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02" tIns="45551" rIns="91102" bIns="4555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B401836-FD79-47B0-BEFC-32954B1DFC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8666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6" descr="Canvas"/>
          <p:cNvSpPr>
            <a:spLocks noChangeArrowheads="1"/>
          </p:cNvSpPr>
          <p:nvPr/>
        </p:nvSpPr>
        <p:spPr bwMode="white">
          <a:xfrm>
            <a:off x="528638" y="201613"/>
            <a:ext cx="8397875" cy="6467475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imes New Roman" pitchFamily="18" charset="0"/>
            </a:endParaRPr>
          </a:p>
        </p:txBody>
      </p:sp>
      <p:pic>
        <p:nvPicPr>
          <p:cNvPr id="5" name="Picture 1027" descr="minispi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ltGray">
          <a:xfrm>
            <a:off x="0" y="50800"/>
            <a:ext cx="1181100" cy="428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1028" descr="Canvas"/>
          <p:cNvSpPr>
            <a:spLocks noChangeArrowheads="1"/>
          </p:cNvSpPr>
          <p:nvPr/>
        </p:nvSpPr>
        <p:spPr bwMode="white">
          <a:xfrm>
            <a:off x="596900" y="4130675"/>
            <a:ext cx="10414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imes New Roman" pitchFamily="18" charset="0"/>
            </a:endParaRPr>
          </a:p>
        </p:txBody>
      </p:sp>
      <p:pic>
        <p:nvPicPr>
          <p:cNvPr id="7" name="Picture 1029" descr="minispir"/>
          <p:cNvPicPr>
            <a:picLocks noChangeAspect="1" noChangeArrowheads="1"/>
          </p:cNvPicPr>
          <p:nvPr/>
        </p:nvPicPr>
        <p:blipFill>
          <a:blip r:embed="rId3" cstate="print"/>
          <a:srcRect t="39999"/>
          <a:stretch>
            <a:fillRect/>
          </a:stretch>
        </p:blipFill>
        <p:spPr bwMode="ltGray">
          <a:xfrm>
            <a:off x="0" y="4222750"/>
            <a:ext cx="1181100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2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914400" y="2057400"/>
            <a:ext cx="7721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103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625600" y="3886200"/>
            <a:ext cx="6400800" cy="17716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1032"/>
          <p:cNvSpPr>
            <a:spLocks noGrp="1" noChangeArrowheads="1"/>
          </p:cNvSpPr>
          <p:nvPr>
            <p:ph type="dt" sz="quarter" idx="10"/>
          </p:nvPr>
        </p:nvSpPr>
        <p:spPr>
          <a:xfrm>
            <a:off x="1084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ftr" sz="quarter" idx="11"/>
          </p:nvPr>
        </p:nvSpPr>
        <p:spPr>
          <a:xfrm>
            <a:off x="3522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51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527C49-D8F9-4E4B-8859-E1DA4A18A2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068E2-703E-42A4-8322-7D71B2A65B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7934C1-8A31-4581-98EF-7D9FC5A4E7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752600"/>
            <a:ext cx="37338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752600"/>
            <a:ext cx="37338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C20386-058A-44DC-A0FE-443CC00B92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7505AB-EDA8-40F8-8602-919494B33F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63EB51-2AEF-44B4-9C68-19841BE470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326078-AC41-435F-BF16-3FC49F9720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04451D-F781-4D43-956B-F56F0F283F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E9E475-36B2-4CFC-B579-F37FA33C27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6AE900-00B6-4333-B5BD-6390C495C5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381000"/>
            <a:ext cx="55626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3C06F9-87FD-4240-8C8F-CCB9437128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81000"/>
            <a:ext cx="7620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66800" y="1752600"/>
            <a:ext cx="37338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953000" y="1752600"/>
            <a:ext cx="37338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953000" y="3886200"/>
            <a:ext cx="37338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721577-131C-4AF4-A4E8-89474FB0AA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81000"/>
            <a:ext cx="7620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66800" y="1752600"/>
            <a:ext cx="37338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752600"/>
            <a:ext cx="37338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78991C-25F3-4B39-9E6E-24B4FAF817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1066800" y="381000"/>
            <a:ext cx="7620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66800" y="1752600"/>
            <a:ext cx="37338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953000" y="1752600"/>
            <a:ext cx="37338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1066800" y="3886200"/>
            <a:ext cx="37338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3000" y="3886200"/>
            <a:ext cx="37338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F5664A-738D-43B3-BB88-A28FB78B5A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81000"/>
            <a:ext cx="7620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752600"/>
            <a:ext cx="37338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953000" y="1752600"/>
            <a:ext cx="37338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953000" y="3886200"/>
            <a:ext cx="37338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310FFA-EFDC-441B-A7F6-2A39F92A26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rgbClr val="906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ltGray">
          <a:xfrm>
            <a:off x="609600" y="228600"/>
            <a:ext cx="8239125" cy="6391275"/>
          </a:xfrm>
          <a:prstGeom prst="rect">
            <a:avLst/>
          </a:prstGeom>
          <a:solidFill>
            <a:srgbClr val="EDE7E3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imes New Roman" pitchFamily="18" charset="0"/>
            </a:endParaRPr>
          </a:p>
        </p:txBody>
      </p:sp>
      <p:sp>
        <p:nvSpPr>
          <p:cNvPr id="3075" name="Line 3"/>
          <p:cNvSpPr>
            <a:spLocks noChangeShapeType="1"/>
          </p:cNvSpPr>
          <p:nvPr/>
        </p:nvSpPr>
        <p:spPr bwMode="ltGray">
          <a:xfrm>
            <a:off x="1016000" y="1600200"/>
            <a:ext cx="7670800" cy="0"/>
          </a:xfrm>
          <a:prstGeom prst="line">
            <a:avLst/>
          </a:prstGeom>
          <a:noFill/>
          <a:ln w="317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6148" name="Picture 4" descr="minispir"/>
          <p:cNvPicPr>
            <a:picLocks noChangeAspect="1" noChangeArrowheads="1"/>
          </p:cNvPicPr>
          <p:nvPr/>
        </p:nvPicPr>
        <p:blipFill>
          <a:blip r:embed="rId17" cstate="print"/>
          <a:srcRect b="5333"/>
          <a:stretch>
            <a:fillRect/>
          </a:stretch>
        </p:blipFill>
        <p:spPr bwMode="ltGray">
          <a:xfrm>
            <a:off x="0" y="50800"/>
            <a:ext cx="1181100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9" name="Picture 5" descr="minispir"/>
          <p:cNvPicPr>
            <a:picLocks noChangeAspect="1" noChangeArrowheads="1"/>
          </p:cNvPicPr>
          <p:nvPr/>
        </p:nvPicPr>
        <p:blipFill>
          <a:blip r:embed="rId17" cstate="print"/>
          <a:srcRect t="39999"/>
          <a:stretch>
            <a:fillRect/>
          </a:stretch>
        </p:blipFill>
        <p:spPr bwMode="ltGray">
          <a:xfrm>
            <a:off x="0" y="4222750"/>
            <a:ext cx="1181100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5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81000"/>
            <a:ext cx="7620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752600"/>
            <a:ext cx="7620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14413" y="610711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2813" y="6107113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81813" y="610711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pPr>
              <a:defRPr/>
            </a:pPr>
            <a:fld id="{2218D46A-AF04-424D-B043-89217904EA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6.png"/><Relationship Id="rId5" Type="http://schemas.openxmlformats.org/officeDocument/2006/relationships/oleObject" Target="../embeddings/oleObject3.bin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1077913" y="904875"/>
            <a:ext cx="59039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800" b="1">
                <a:solidFill>
                  <a:schemeClr val="accent2"/>
                </a:solidFill>
              </a:rPr>
              <a:t>Complexity aspects to consider…</a:t>
            </a:r>
          </a:p>
        </p:txBody>
      </p:sp>
      <p:sp>
        <p:nvSpPr>
          <p:cNvPr id="24579" name="Text Box 6"/>
          <p:cNvSpPr txBox="1">
            <a:spLocks noChangeArrowheads="1"/>
          </p:cNvSpPr>
          <p:nvPr/>
        </p:nvSpPr>
        <p:spPr bwMode="auto">
          <a:xfrm>
            <a:off x="1431925" y="22510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sp>
        <p:nvSpPr>
          <p:cNvPr id="24580" name="Text Box 7"/>
          <p:cNvSpPr txBox="1">
            <a:spLocks noChangeArrowheads="1"/>
          </p:cNvSpPr>
          <p:nvPr/>
        </p:nvSpPr>
        <p:spPr bwMode="auto">
          <a:xfrm>
            <a:off x="1228725" y="1768475"/>
            <a:ext cx="7172325" cy="337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>
                <a:cs typeface="Arial" charset="0"/>
              </a:rPr>
              <a:t> </a:t>
            </a:r>
            <a:r>
              <a:rPr lang="en-US" sz="2400">
                <a:cs typeface="Arial" charset="0"/>
              </a:rPr>
              <a:t>Amount of time and effort to fit multiple parts</a:t>
            </a:r>
            <a:endParaRPr lang="en-US" sz="2400">
              <a:latin typeface="Times New Roman" pitchFamily="18" charset="0"/>
            </a:endParaRPr>
          </a:p>
          <a:p>
            <a:pPr>
              <a:buFontTx/>
              <a:buChar char="•"/>
            </a:pPr>
            <a:r>
              <a:rPr lang="en-US" sz="2400">
                <a:cs typeface="Arial" charset="0"/>
              </a:rPr>
              <a:t> Difficulty of model and construction techniques</a:t>
            </a:r>
            <a:endParaRPr lang="en-US" sz="2400">
              <a:latin typeface="Times New Roman" pitchFamily="18" charset="0"/>
            </a:endParaRPr>
          </a:p>
          <a:p>
            <a:pPr>
              <a:buFontTx/>
              <a:buChar char="•"/>
            </a:pPr>
            <a:r>
              <a:rPr lang="en-US" sz="2400">
                <a:cs typeface="Arial" charset="0"/>
              </a:rPr>
              <a:t> Numbers of attributes such as walls, rooflines,</a:t>
            </a:r>
            <a:br>
              <a:rPr lang="en-US" sz="2400">
                <a:cs typeface="Arial" charset="0"/>
              </a:rPr>
            </a:br>
            <a:r>
              <a:rPr lang="en-US" sz="2400">
                <a:cs typeface="Arial" charset="0"/>
              </a:rPr>
              <a:t>  windows and doors</a:t>
            </a:r>
            <a:endParaRPr lang="en-US" sz="2400">
              <a:latin typeface="Times New Roman" pitchFamily="18" charset="0"/>
            </a:endParaRPr>
          </a:p>
          <a:p>
            <a:pPr>
              <a:buFontTx/>
              <a:buChar char="•"/>
            </a:pPr>
            <a:r>
              <a:rPr lang="en-US" sz="2400">
                <a:cs typeface="Arial" charset="0"/>
              </a:rPr>
              <a:t> Example, a 4-6-6-4 is more complex than an 0-6-0</a:t>
            </a:r>
            <a:endParaRPr lang="en-US" sz="2400">
              <a:latin typeface="Times New Roman" pitchFamily="18" charset="0"/>
            </a:endParaRPr>
          </a:p>
          <a:p>
            <a:pPr>
              <a:buFontTx/>
              <a:buChar char="•"/>
            </a:pPr>
            <a:r>
              <a:rPr lang="en-US" sz="2400">
                <a:cs typeface="Arial" charset="0"/>
              </a:rPr>
              <a:t> Example, a center flow hopper is more complex</a:t>
            </a:r>
            <a:br>
              <a:rPr lang="en-US" sz="2400">
                <a:cs typeface="Arial" charset="0"/>
              </a:rPr>
            </a:br>
            <a:r>
              <a:rPr lang="en-US" sz="2400">
                <a:cs typeface="Arial" charset="0"/>
              </a:rPr>
              <a:t>  than a flatcar.</a:t>
            </a:r>
            <a:endParaRPr lang="en-US" sz="2400">
              <a:latin typeface="Times New Roman" pitchFamily="18" charset="0"/>
            </a:endParaRPr>
          </a:p>
          <a:p>
            <a:pPr>
              <a:buFontTx/>
              <a:buChar char="•"/>
            </a:pPr>
            <a:r>
              <a:rPr lang="en-US" sz="2400">
                <a:cs typeface="Arial" charset="0"/>
              </a:rPr>
              <a:t> Example, grand central station is more complex</a:t>
            </a:r>
            <a:br>
              <a:rPr lang="en-US" sz="2400">
                <a:cs typeface="Arial" charset="0"/>
              </a:rPr>
            </a:br>
            <a:r>
              <a:rPr lang="en-US" sz="2400">
                <a:cs typeface="Arial" charset="0"/>
              </a:rPr>
              <a:t>  than a tool shed</a:t>
            </a:r>
            <a:r>
              <a:rPr lang="en-US">
                <a:latin typeface="Times New Roman" pitchFamily="18" charset="0"/>
              </a:rPr>
              <a:t>  </a:t>
            </a:r>
          </a:p>
        </p:txBody>
      </p:sp>
      <p:sp>
        <p:nvSpPr>
          <p:cNvPr id="40969" name="Rectangle 9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43180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3" name="Text Box 5"/>
          <p:cNvSpPr txBox="1">
            <a:spLocks noChangeArrowheads="1"/>
          </p:cNvSpPr>
          <p:nvPr/>
        </p:nvSpPr>
        <p:spPr bwMode="auto">
          <a:xfrm>
            <a:off x="1093788" y="723900"/>
            <a:ext cx="7361237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solidFill>
                  <a:schemeClr val="accent2"/>
                </a:solidFill>
                <a:latin typeface="Arial Black" pitchFamily="34" charset="0"/>
              </a:rPr>
              <a:t>Here’s are some Examples of How Scoring </a:t>
            </a:r>
          </a:p>
          <a:p>
            <a:pPr>
              <a:defRPr/>
            </a:pPr>
            <a:r>
              <a:rPr lang="en-US" sz="2400">
                <a:solidFill>
                  <a:schemeClr val="accent2"/>
                </a:solidFill>
                <a:latin typeface="Arial Black" pitchFamily="34" charset="0"/>
              </a:rPr>
              <a:t>Can Increase with Complexity</a:t>
            </a:r>
          </a:p>
        </p:txBody>
      </p:sp>
      <p:sp>
        <p:nvSpPr>
          <p:cNvPr id="25603" name="Text Box 6"/>
          <p:cNvSpPr txBox="1">
            <a:spLocks noChangeArrowheads="1"/>
          </p:cNvSpPr>
          <p:nvPr/>
        </p:nvSpPr>
        <p:spPr bwMode="auto">
          <a:xfrm>
            <a:off x="1431925" y="22510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pic>
        <p:nvPicPr>
          <p:cNvPr id="25604" name="Picture 2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214438" y="1689100"/>
            <a:ext cx="7500937" cy="4784725"/>
          </a:xfrm>
          <a:noFill/>
        </p:spPr>
      </p:pic>
      <p:sp>
        <p:nvSpPr>
          <p:cNvPr id="48155" name="Rectangle 27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43688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6"/>
          <p:cNvSpPr txBox="1">
            <a:spLocks noChangeArrowheads="1"/>
          </p:cNvSpPr>
          <p:nvPr/>
        </p:nvSpPr>
        <p:spPr bwMode="auto">
          <a:xfrm>
            <a:off x="1025525" y="1739900"/>
            <a:ext cx="7459663" cy="406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i="1">
                <a:latin typeface="Arial Black" pitchFamily="34" charset="0"/>
                <a:cs typeface="Arial" charset="0"/>
              </a:rPr>
              <a:t> Focus - Conformity to prototype or prototype intent</a:t>
            </a:r>
            <a:endParaRPr lang="en-US" b="1" i="1">
              <a:latin typeface="Arial Black" pitchFamily="34" charset="0"/>
            </a:endParaRPr>
          </a:p>
        </p:txBody>
      </p:sp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1108075" y="917575"/>
            <a:ext cx="6680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2"/>
                </a:solidFill>
                <a:latin typeface="Arial Black" pitchFamily="34" charset="0"/>
              </a:rPr>
              <a:t>Conformity </a:t>
            </a:r>
            <a:r>
              <a:rPr lang="en-US">
                <a:solidFill>
                  <a:schemeClr val="accent2"/>
                </a:solidFill>
                <a:latin typeface="Arial Black" pitchFamily="34" charset="0"/>
              </a:rPr>
              <a:t>(25 pts. Total – 17.5 pts. Merit)</a:t>
            </a:r>
          </a:p>
        </p:txBody>
      </p:sp>
      <p:sp>
        <p:nvSpPr>
          <p:cNvPr id="26628" name="Text Box 5"/>
          <p:cNvSpPr txBox="1">
            <a:spLocks noChangeArrowheads="1"/>
          </p:cNvSpPr>
          <p:nvPr/>
        </p:nvSpPr>
        <p:spPr bwMode="auto">
          <a:xfrm>
            <a:off x="1431925" y="22510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sp>
        <p:nvSpPr>
          <p:cNvPr id="26629" name="Text Box 7"/>
          <p:cNvSpPr txBox="1">
            <a:spLocks noChangeArrowheads="1"/>
          </p:cNvSpPr>
          <p:nvPr/>
        </p:nvSpPr>
        <p:spPr bwMode="auto">
          <a:xfrm>
            <a:off x="1216025" y="2208213"/>
            <a:ext cx="7318375" cy="405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Replication of prototype features, dimensions, components,</a:t>
            </a:r>
            <a:br>
              <a:rPr lang="en-US"/>
            </a:br>
            <a:r>
              <a:rPr lang="en-US"/>
              <a:t>  simulation of construction materials, and arrangement of detail</a:t>
            </a:r>
          </a:p>
          <a:p>
            <a:pPr>
              <a:buFontTx/>
              <a:buChar char="•"/>
            </a:pPr>
            <a:r>
              <a:rPr lang="en-US"/>
              <a:t> Make it look like the prototype</a:t>
            </a:r>
          </a:p>
          <a:p>
            <a:pPr>
              <a:buFontTx/>
              <a:buChar char="•"/>
            </a:pPr>
            <a:r>
              <a:rPr lang="en-US"/>
              <a:t> For selectively compressed models consider how well model</a:t>
            </a:r>
            <a:br>
              <a:rPr lang="en-US"/>
            </a:br>
            <a:r>
              <a:rPr lang="en-US"/>
              <a:t>  captures important features and balance of prototype</a:t>
            </a:r>
          </a:p>
          <a:p>
            <a:pPr>
              <a:buFontTx/>
              <a:buChar char="•"/>
            </a:pPr>
            <a:r>
              <a:rPr lang="en-US"/>
              <a:t> Freelanced models also need to follow prototype practice</a:t>
            </a:r>
          </a:p>
          <a:p>
            <a:pPr lvl="1">
              <a:buFontTx/>
              <a:buChar char="•"/>
            </a:pPr>
            <a:r>
              <a:rPr lang="en-US"/>
              <a:t> Is it logical</a:t>
            </a:r>
          </a:p>
          <a:p>
            <a:pPr lvl="1">
              <a:buFontTx/>
              <a:buChar char="•"/>
            </a:pPr>
            <a:r>
              <a:rPr lang="en-US"/>
              <a:t> Would it do the job</a:t>
            </a:r>
          </a:p>
          <a:p>
            <a:pPr lvl="1">
              <a:buFontTx/>
              <a:buChar char="•"/>
            </a:pPr>
            <a:r>
              <a:rPr lang="en-US"/>
              <a:t> Would it take the intended loads</a:t>
            </a:r>
          </a:p>
          <a:p>
            <a:pPr lvl="1">
              <a:buFontTx/>
              <a:buChar char="•"/>
            </a:pPr>
            <a:r>
              <a:rPr lang="en-US"/>
              <a:t> Does it conform to normal construction practice.</a:t>
            </a:r>
          </a:p>
          <a:p>
            <a:pPr lvl="1">
              <a:buFontTx/>
              <a:buChar char="•"/>
            </a:pPr>
            <a:r>
              <a:rPr lang="en-US"/>
              <a:t> If not why?</a:t>
            </a:r>
          </a:p>
          <a:p>
            <a:pPr>
              <a:buFontTx/>
              <a:buChar char="•"/>
            </a:pPr>
            <a:r>
              <a:rPr lang="en-US"/>
              <a:t> Documentation important; show plans, photos, or other items</a:t>
            </a:r>
            <a:br>
              <a:rPr lang="en-US"/>
            </a:br>
            <a:r>
              <a:rPr lang="en-US"/>
              <a:t>  to substantiate your model (15 pts. max. if none provided)</a:t>
            </a:r>
          </a:p>
        </p:txBody>
      </p:sp>
      <p:sp>
        <p:nvSpPr>
          <p:cNvPr id="54281" name="Rectangle 9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43561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9" name="Text Box 5"/>
          <p:cNvSpPr txBox="1">
            <a:spLocks noChangeArrowheads="1"/>
          </p:cNvSpPr>
          <p:nvPr/>
        </p:nvSpPr>
        <p:spPr bwMode="auto">
          <a:xfrm>
            <a:off x="1106488" y="942975"/>
            <a:ext cx="73628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2"/>
                </a:solidFill>
                <a:latin typeface="Arial Black" pitchFamily="34" charset="0"/>
              </a:rPr>
              <a:t>Conformity Matrix </a:t>
            </a:r>
            <a:r>
              <a:rPr lang="en-US">
                <a:solidFill>
                  <a:schemeClr val="accent2"/>
                </a:solidFill>
              </a:rPr>
              <a:t>(25 pts. Total – 17.5 pts. Merit)</a:t>
            </a:r>
            <a:r>
              <a:rPr lang="en-US" sz="2800">
                <a:solidFill>
                  <a:schemeClr val="accent2"/>
                </a:solidFill>
                <a:latin typeface="Arial Black" pitchFamily="34" charset="0"/>
              </a:rPr>
              <a:t> </a:t>
            </a:r>
          </a:p>
        </p:txBody>
      </p:sp>
      <p:sp>
        <p:nvSpPr>
          <p:cNvPr id="27651" name="Text Box 6"/>
          <p:cNvSpPr txBox="1">
            <a:spLocks noChangeArrowheads="1"/>
          </p:cNvSpPr>
          <p:nvPr/>
        </p:nvSpPr>
        <p:spPr bwMode="auto">
          <a:xfrm>
            <a:off x="1431925" y="22510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sp>
        <p:nvSpPr>
          <p:cNvPr id="52237" name="Rectangle 13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42291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  <p:sp>
        <p:nvSpPr>
          <p:cNvPr id="27653" name="Rectangle 14"/>
          <p:cNvSpPr>
            <a:spLocks noChangeArrowheads="1"/>
          </p:cNvSpPr>
          <p:nvPr/>
        </p:nvSpPr>
        <p:spPr bwMode="auto">
          <a:xfrm rot="7920000">
            <a:off x="4467225" y="4030663"/>
            <a:ext cx="3863975" cy="219075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r>
              <a:rPr lang="en-US" sz="1200" b="1"/>
              <a:t>Merit Level</a:t>
            </a:r>
          </a:p>
        </p:txBody>
      </p:sp>
      <p:pic>
        <p:nvPicPr>
          <p:cNvPr id="27654" name="Picture 10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096963" y="1973263"/>
            <a:ext cx="7315200" cy="2809875"/>
          </a:xfr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Text Box 4"/>
          <p:cNvSpPr txBox="1">
            <a:spLocks noChangeArrowheads="1"/>
          </p:cNvSpPr>
          <p:nvPr/>
        </p:nvSpPr>
        <p:spPr bwMode="auto">
          <a:xfrm>
            <a:off x="1087438" y="736600"/>
            <a:ext cx="348456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solidFill>
                  <a:schemeClr val="accent2"/>
                </a:solidFill>
                <a:latin typeface="Arial Black" pitchFamily="34" charset="0"/>
              </a:rPr>
              <a:t>Example -</a:t>
            </a:r>
          </a:p>
          <a:p>
            <a:pPr>
              <a:defRPr/>
            </a:pPr>
            <a:r>
              <a:rPr lang="en-US" sz="2400">
                <a:solidFill>
                  <a:schemeClr val="accent2"/>
                </a:solidFill>
                <a:latin typeface="Arial Black" pitchFamily="34" charset="0"/>
              </a:rPr>
              <a:t>Detail Conformance</a:t>
            </a:r>
          </a:p>
        </p:txBody>
      </p:sp>
      <p:sp>
        <p:nvSpPr>
          <p:cNvPr id="28675" name="Text Box 5"/>
          <p:cNvSpPr txBox="1">
            <a:spLocks noChangeArrowheads="1"/>
          </p:cNvSpPr>
          <p:nvPr/>
        </p:nvSpPr>
        <p:spPr bwMode="auto">
          <a:xfrm>
            <a:off x="1143000" y="1752600"/>
            <a:ext cx="5600700" cy="457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400" b="1"/>
              <a:t>“B” End of D&amp;RGW Gondola #1083</a:t>
            </a:r>
          </a:p>
        </p:txBody>
      </p:sp>
      <p:sp>
        <p:nvSpPr>
          <p:cNvPr id="28676" name="Text Box 6"/>
          <p:cNvSpPr txBox="1">
            <a:spLocks noChangeArrowheads="1"/>
          </p:cNvSpPr>
          <p:nvPr/>
        </p:nvSpPr>
        <p:spPr bwMode="auto">
          <a:xfrm>
            <a:off x="1431925" y="22510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sp>
        <p:nvSpPr>
          <p:cNvPr id="28677" name="Text Box 13"/>
          <p:cNvSpPr txBox="1">
            <a:spLocks noChangeArrowheads="1"/>
          </p:cNvSpPr>
          <p:nvPr/>
        </p:nvSpPr>
        <p:spPr bwMode="auto">
          <a:xfrm>
            <a:off x="2587625" y="5995988"/>
            <a:ext cx="4418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/>
              <a:t>Can you see the differences?</a:t>
            </a:r>
          </a:p>
        </p:txBody>
      </p:sp>
      <p:grpSp>
        <p:nvGrpSpPr>
          <p:cNvPr id="28678" name="Group 17"/>
          <p:cNvGrpSpPr>
            <a:grpSpLocks/>
          </p:cNvGrpSpPr>
          <p:nvPr/>
        </p:nvGrpSpPr>
        <p:grpSpPr bwMode="auto">
          <a:xfrm>
            <a:off x="1104900" y="2274888"/>
            <a:ext cx="7353300" cy="3751262"/>
            <a:chOff x="688" y="1369"/>
            <a:chExt cx="4632" cy="2363"/>
          </a:xfrm>
        </p:grpSpPr>
        <p:pic>
          <p:nvPicPr>
            <p:cNvPr id="28680" name="Picture 10" descr="Gon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032" y="1369"/>
              <a:ext cx="2288" cy="23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681" name="Picture 15" descr="Gon5a proto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88" y="1440"/>
              <a:ext cx="2256" cy="2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56339" name="Rectangle 19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41910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5"/>
          <p:cNvSpPr txBox="1">
            <a:spLocks noChangeArrowheads="1"/>
          </p:cNvSpPr>
          <p:nvPr/>
        </p:nvSpPr>
        <p:spPr bwMode="auto">
          <a:xfrm>
            <a:off x="1143000" y="1752600"/>
            <a:ext cx="5969000" cy="457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400" b="1"/>
              <a:t>Floor patches D&amp;RGW Gondola #1083</a:t>
            </a:r>
          </a:p>
        </p:txBody>
      </p:sp>
      <p:sp>
        <p:nvSpPr>
          <p:cNvPr id="4100" name="Text Box 6"/>
          <p:cNvSpPr txBox="1">
            <a:spLocks noChangeArrowheads="1"/>
          </p:cNvSpPr>
          <p:nvPr/>
        </p:nvSpPr>
        <p:spPr bwMode="auto">
          <a:xfrm>
            <a:off x="1431925" y="22510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graphicFrame>
        <p:nvGraphicFramePr>
          <p:cNvPr id="4098" name="Object 12"/>
          <p:cNvGraphicFramePr>
            <a:graphicFrameLocks noChangeAspect="1"/>
          </p:cNvGraphicFramePr>
          <p:nvPr/>
        </p:nvGraphicFramePr>
        <p:xfrm>
          <a:off x="1117600" y="2463800"/>
          <a:ext cx="3627438" cy="303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Photo Editor Photo" r:id="rId3" imgW="2580952" imgH="2161905" progId="">
                  <p:embed/>
                </p:oleObj>
              </mc:Choice>
              <mc:Fallback>
                <p:oleObj name="Photo Editor Photo" r:id="rId3" imgW="2580952" imgH="2161905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600" y="2463800"/>
                        <a:ext cx="3627438" cy="303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01" name="Picture 14" descr="Gondola Patches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52988" y="2451100"/>
            <a:ext cx="3757612" cy="305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55" name="Text Box 15"/>
          <p:cNvSpPr txBox="1">
            <a:spLocks noChangeArrowheads="1"/>
          </p:cNvSpPr>
          <p:nvPr/>
        </p:nvSpPr>
        <p:spPr bwMode="auto">
          <a:xfrm>
            <a:off x="1011238" y="838200"/>
            <a:ext cx="497522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solidFill>
                  <a:schemeClr val="accent2"/>
                </a:solidFill>
                <a:latin typeface="Arial Black" pitchFamily="34" charset="0"/>
              </a:rPr>
              <a:t>Example –</a:t>
            </a:r>
            <a:br>
              <a:rPr lang="en-US" sz="2400">
                <a:solidFill>
                  <a:schemeClr val="accent2"/>
                </a:solidFill>
                <a:latin typeface="Arial Black" pitchFamily="34" charset="0"/>
              </a:rPr>
            </a:br>
            <a:r>
              <a:rPr lang="en-US" sz="2400">
                <a:solidFill>
                  <a:schemeClr val="accent2"/>
                </a:solidFill>
                <a:latin typeface="Arial Black" pitchFamily="34" charset="0"/>
              </a:rPr>
              <a:t>Conformance to Specific Car</a:t>
            </a:r>
          </a:p>
        </p:txBody>
      </p:sp>
      <p:sp>
        <p:nvSpPr>
          <p:cNvPr id="61457" name="Rectangle 17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43688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Text Box 4"/>
          <p:cNvSpPr txBox="1">
            <a:spLocks noChangeArrowheads="1"/>
          </p:cNvSpPr>
          <p:nvPr/>
        </p:nvSpPr>
        <p:spPr bwMode="auto">
          <a:xfrm>
            <a:off x="1062038" y="787400"/>
            <a:ext cx="50419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solidFill>
                  <a:schemeClr val="accent2"/>
                </a:solidFill>
                <a:latin typeface="Arial Black" pitchFamily="34" charset="0"/>
              </a:rPr>
              <a:t>Example –</a:t>
            </a:r>
          </a:p>
          <a:p>
            <a:pPr>
              <a:defRPr/>
            </a:pPr>
            <a:r>
              <a:rPr lang="en-US" sz="2400">
                <a:solidFill>
                  <a:schemeClr val="accent2"/>
                </a:solidFill>
                <a:latin typeface="Arial Black" pitchFamily="34" charset="0"/>
              </a:rPr>
              <a:t>Conformance Documentation</a:t>
            </a:r>
          </a:p>
        </p:txBody>
      </p:sp>
      <p:sp>
        <p:nvSpPr>
          <p:cNvPr id="29699" name="Text Box 5"/>
          <p:cNvSpPr txBox="1">
            <a:spLocks noChangeArrowheads="1"/>
          </p:cNvSpPr>
          <p:nvPr/>
        </p:nvSpPr>
        <p:spPr bwMode="auto">
          <a:xfrm>
            <a:off x="1079500" y="1765300"/>
            <a:ext cx="7302500" cy="457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400" b="1"/>
              <a:t>Overall Package – D&amp;RGW Gondola #1083</a:t>
            </a:r>
          </a:p>
        </p:txBody>
      </p:sp>
      <p:sp>
        <p:nvSpPr>
          <p:cNvPr id="29700" name="Text Box 6"/>
          <p:cNvSpPr txBox="1">
            <a:spLocks noChangeArrowheads="1"/>
          </p:cNvSpPr>
          <p:nvPr/>
        </p:nvSpPr>
        <p:spPr bwMode="auto">
          <a:xfrm>
            <a:off x="1431925" y="22510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pic>
        <p:nvPicPr>
          <p:cNvPr id="29701" name="Picture 13" descr="MVC-001L1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066800" y="2286000"/>
            <a:ext cx="7620000" cy="4114800"/>
          </a:xfrm>
          <a:noFill/>
        </p:spPr>
      </p:pic>
      <p:sp>
        <p:nvSpPr>
          <p:cNvPr id="59407" name="Rectangle 15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42164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1108075" y="965200"/>
            <a:ext cx="7292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solidFill>
                  <a:schemeClr val="accent2"/>
                </a:solidFill>
                <a:latin typeface="Arial Black" pitchFamily="34" charset="0"/>
              </a:rPr>
              <a:t>General References for Free Lance Models</a:t>
            </a:r>
          </a:p>
        </p:txBody>
      </p:sp>
      <p:sp>
        <p:nvSpPr>
          <p:cNvPr id="30723" name="Text Box 4"/>
          <p:cNvSpPr txBox="1">
            <a:spLocks noChangeArrowheads="1"/>
          </p:cNvSpPr>
          <p:nvPr/>
        </p:nvSpPr>
        <p:spPr bwMode="auto">
          <a:xfrm>
            <a:off x="1431925" y="22510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pic>
        <p:nvPicPr>
          <p:cNvPr id="30724" name="Picture 5" descr="Prototype Ref Matl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57288" y="1714500"/>
            <a:ext cx="7464425" cy="4752975"/>
          </a:xfrm>
          <a:noFill/>
        </p:spPr>
      </p:pic>
      <p:sp>
        <p:nvSpPr>
          <p:cNvPr id="137223" name="Rectangle 7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43307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1025525" y="1739900"/>
            <a:ext cx="6240463" cy="406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i="1">
                <a:latin typeface="Arial Black" pitchFamily="34" charset="0"/>
                <a:cs typeface="Arial" charset="0"/>
              </a:rPr>
              <a:t> Focus – Quantity and Refinement of Detail</a:t>
            </a:r>
            <a:endParaRPr lang="en-US" b="1" i="1">
              <a:latin typeface="Arial Black" pitchFamily="34" charset="0"/>
            </a:endParaRPr>
          </a:p>
        </p:txBody>
      </p:sp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1108075" y="917575"/>
            <a:ext cx="54403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2"/>
                </a:solidFill>
                <a:latin typeface="Arial Black" pitchFamily="34" charset="0"/>
              </a:rPr>
              <a:t>Detail </a:t>
            </a:r>
            <a:r>
              <a:rPr lang="en-US">
                <a:solidFill>
                  <a:schemeClr val="accent2"/>
                </a:solidFill>
                <a:latin typeface="Arial Black" pitchFamily="34" charset="0"/>
              </a:rPr>
              <a:t>(20 pts. Total – 14 pts. Merit)</a:t>
            </a:r>
          </a:p>
        </p:txBody>
      </p:sp>
      <p:sp>
        <p:nvSpPr>
          <p:cNvPr id="31748" name="Text Box 5"/>
          <p:cNvSpPr txBox="1">
            <a:spLocks noChangeArrowheads="1"/>
          </p:cNvSpPr>
          <p:nvPr/>
        </p:nvSpPr>
        <p:spPr bwMode="auto">
          <a:xfrm>
            <a:off x="1431925" y="22510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sp>
        <p:nvSpPr>
          <p:cNvPr id="31749" name="Text Box 6"/>
          <p:cNvSpPr txBox="1">
            <a:spLocks noChangeArrowheads="1"/>
          </p:cNvSpPr>
          <p:nvPr/>
        </p:nvSpPr>
        <p:spPr bwMode="auto">
          <a:xfrm>
            <a:off x="1292225" y="2347913"/>
            <a:ext cx="7083425" cy="374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Detail has to be added; cast on detail doesn’t count</a:t>
            </a:r>
          </a:p>
          <a:p>
            <a:pPr>
              <a:buFontTx/>
              <a:buChar char="•"/>
            </a:pPr>
            <a:r>
              <a:rPr lang="en-US"/>
              <a:t> Cast-on detail can be filed off and replaced with more</a:t>
            </a:r>
            <a:br>
              <a:rPr lang="en-US"/>
            </a:br>
            <a:r>
              <a:rPr lang="en-US"/>
              <a:t>  refined separate parts</a:t>
            </a:r>
          </a:p>
          <a:p>
            <a:pPr>
              <a:buFontTx/>
              <a:buChar char="•"/>
            </a:pPr>
            <a:r>
              <a:rPr lang="en-US"/>
              <a:t> Detail that is integral to operation of model is more</a:t>
            </a:r>
            <a:br>
              <a:rPr lang="en-US"/>
            </a:br>
            <a:r>
              <a:rPr lang="en-US"/>
              <a:t>  important than incidental detail</a:t>
            </a:r>
          </a:p>
          <a:p>
            <a:pPr>
              <a:buFontTx/>
              <a:buChar char="•"/>
            </a:pPr>
            <a:r>
              <a:rPr lang="en-US"/>
              <a:t> Working detail is more important than non-working detail</a:t>
            </a:r>
          </a:p>
          <a:p>
            <a:pPr>
              <a:buFontTx/>
              <a:buChar char="•"/>
            </a:pPr>
            <a:r>
              <a:rPr lang="en-US"/>
              <a:t> Completeness is important; add everything you can see</a:t>
            </a:r>
            <a:br>
              <a:rPr lang="en-US"/>
            </a:br>
            <a:r>
              <a:rPr lang="en-US"/>
              <a:t>  on model.</a:t>
            </a:r>
          </a:p>
          <a:p>
            <a:pPr>
              <a:buFontTx/>
              <a:buChar char="•"/>
            </a:pPr>
            <a:r>
              <a:rPr lang="en-US"/>
              <a:t> Refined of detail is better than simple parts; a brake cylinder</a:t>
            </a:r>
            <a:br>
              <a:rPr lang="en-US"/>
            </a:br>
            <a:r>
              <a:rPr lang="en-US"/>
              <a:t>  made up of several well made parts is probably better than</a:t>
            </a:r>
            <a:br>
              <a:rPr lang="en-US"/>
            </a:br>
            <a:r>
              <a:rPr lang="en-US"/>
              <a:t>  a single piece filed to shape.</a:t>
            </a:r>
          </a:p>
          <a:p>
            <a:endParaRPr lang="en-US"/>
          </a:p>
        </p:txBody>
      </p:sp>
      <p:sp>
        <p:nvSpPr>
          <p:cNvPr id="62472" name="Rectangle 8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43561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1106488" y="942975"/>
            <a:ext cx="60467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2"/>
                </a:solidFill>
                <a:latin typeface="Arial Black" pitchFamily="34" charset="0"/>
              </a:rPr>
              <a:t>Detail Matrix </a:t>
            </a:r>
            <a:r>
              <a:rPr lang="en-US">
                <a:solidFill>
                  <a:schemeClr val="accent2"/>
                </a:solidFill>
              </a:rPr>
              <a:t>(20 pts. Total – 14 pts. Merit)</a:t>
            </a:r>
          </a:p>
        </p:txBody>
      </p:sp>
      <p:sp>
        <p:nvSpPr>
          <p:cNvPr id="32771" name="Text Box 4"/>
          <p:cNvSpPr txBox="1">
            <a:spLocks noChangeArrowheads="1"/>
          </p:cNvSpPr>
          <p:nvPr/>
        </p:nvSpPr>
        <p:spPr bwMode="auto">
          <a:xfrm>
            <a:off x="1431925" y="22510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sp>
        <p:nvSpPr>
          <p:cNvPr id="63652" name="Rectangle 164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44831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  <p:sp>
        <p:nvSpPr>
          <p:cNvPr id="32773" name="Rectangle 165"/>
          <p:cNvSpPr>
            <a:spLocks noChangeArrowheads="1"/>
          </p:cNvSpPr>
          <p:nvPr/>
        </p:nvSpPr>
        <p:spPr bwMode="auto">
          <a:xfrm rot="7815524">
            <a:off x="4327525" y="4457700"/>
            <a:ext cx="4483100" cy="3175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r>
              <a:rPr lang="en-US" sz="1400" b="1"/>
              <a:t>Merit Level</a:t>
            </a:r>
          </a:p>
        </p:txBody>
      </p:sp>
      <p:grpSp>
        <p:nvGrpSpPr>
          <p:cNvPr id="32774" name="Group 10"/>
          <p:cNvGrpSpPr>
            <a:grpSpLocks noChangeAspect="1"/>
          </p:cNvGrpSpPr>
          <p:nvPr/>
        </p:nvGrpSpPr>
        <p:grpSpPr bwMode="auto">
          <a:xfrm>
            <a:off x="1166813" y="1939925"/>
            <a:ext cx="7245350" cy="3698875"/>
            <a:chOff x="703" y="1118"/>
            <a:chExt cx="4564" cy="2330"/>
          </a:xfrm>
        </p:grpSpPr>
        <p:sp>
          <p:nvSpPr>
            <p:cNvPr id="32775" name="AutoShape 9"/>
            <p:cNvSpPr>
              <a:spLocks noChangeAspect="1" noChangeArrowheads="1" noTextEdit="1"/>
            </p:cNvSpPr>
            <p:nvPr/>
          </p:nvSpPr>
          <p:spPr bwMode="auto">
            <a:xfrm>
              <a:off x="711" y="1126"/>
              <a:ext cx="4545" cy="23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76" name="Rectangle 11"/>
            <p:cNvSpPr>
              <a:spLocks noChangeArrowheads="1"/>
            </p:cNvSpPr>
            <p:nvPr/>
          </p:nvSpPr>
          <p:spPr bwMode="auto">
            <a:xfrm>
              <a:off x="1638" y="1834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777" name="Rectangle 12"/>
            <p:cNvSpPr>
              <a:spLocks noChangeArrowheads="1"/>
            </p:cNvSpPr>
            <p:nvPr/>
          </p:nvSpPr>
          <p:spPr bwMode="auto">
            <a:xfrm>
              <a:off x="1869" y="1834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778" name="Rectangle 13"/>
            <p:cNvSpPr>
              <a:spLocks noChangeArrowheads="1"/>
            </p:cNvSpPr>
            <p:nvPr/>
          </p:nvSpPr>
          <p:spPr bwMode="auto">
            <a:xfrm>
              <a:off x="2100" y="1834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2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779" name="Rectangle 14"/>
            <p:cNvSpPr>
              <a:spLocks noChangeArrowheads="1"/>
            </p:cNvSpPr>
            <p:nvPr/>
          </p:nvSpPr>
          <p:spPr bwMode="auto">
            <a:xfrm>
              <a:off x="2331" y="1834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3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780" name="Rectangle 15"/>
            <p:cNvSpPr>
              <a:spLocks noChangeArrowheads="1"/>
            </p:cNvSpPr>
            <p:nvPr/>
          </p:nvSpPr>
          <p:spPr bwMode="auto">
            <a:xfrm>
              <a:off x="2561" y="1834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4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781" name="Rectangle 16"/>
            <p:cNvSpPr>
              <a:spLocks noChangeArrowheads="1"/>
            </p:cNvSpPr>
            <p:nvPr/>
          </p:nvSpPr>
          <p:spPr bwMode="auto">
            <a:xfrm>
              <a:off x="2792" y="1834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5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782" name="Rectangle 17"/>
            <p:cNvSpPr>
              <a:spLocks noChangeArrowheads="1"/>
            </p:cNvSpPr>
            <p:nvPr/>
          </p:nvSpPr>
          <p:spPr bwMode="auto">
            <a:xfrm>
              <a:off x="3023" y="1834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6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783" name="Rectangle 18"/>
            <p:cNvSpPr>
              <a:spLocks noChangeArrowheads="1"/>
            </p:cNvSpPr>
            <p:nvPr/>
          </p:nvSpPr>
          <p:spPr bwMode="auto">
            <a:xfrm>
              <a:off x="3254" y="1834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7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784" name="Rectangle 19"/>
            <p:cNvSpPr>
              <a:spLocks noChangeArrowheads="1"/>
            </p:cNvSpPr>
            <p:nvPr/>
          </p:nvSpPr>
          <p:spPr bwMode="auto">
            <a:xfrm>
              <a:off x="3485" y="1834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8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785" name="Rectangle 20"/>
            <p:cNvSpPr>
              <a:spLocks noChangeArrowheads="1"/>
            </p:cNvSpPr>
            <p:nvPr/>
          </p:nvSpPr>
          <p:spPr bwMode="auto">
            <a:xfrm>
              <a:off x="3716" y="1834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9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786" name="Rectangle 21"/>
            <p:cNvSpPr>
              <a:spLocks noChangeArrowheads="1"/>
            </p:cNvSpPr>
            <p:nvPr/>
          </p:nvSpPr>
          <p:spPr bwMode="auto">
            <a:xfrm>
              <a:off x="3909" y="1834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787" name="Rectangle 22"/>
            <p:cNvSpPr>
              <a:spLocks noChangeArrowheads="1"/>
            </p:cNvSpPr>
            <p:nvPr/>
          </p:nvSpPr>
          <p:spPr bwMode="auto">
            <a:xfrm>
              <a:off x="4140" y="1834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11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788" name="Rectangle 23"/>
            <p:cNvSpPr>
              <a:spLocks noChangeArrowheads="1"/>
            </p:cNvSpPr>
            <p:nvPr/>
          </p:nvSpPr>
          <p:spPr bwMode="auto">
            <a:xfrm>
              <a:off x="4371" y="1834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12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789" name="Rectangle 24"/>
            <p:cNvSpPr>
              <a:spLocks noChangeArrowheads="1"/>
            </p:cNvSpPr>
            <p:nvPr/>
          </p:nvSpPr>
          <p:spPr bwMode="auto">
            <a:xfrm>
              <a:off x="4602" y="1834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13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790" name="Rectangle 25"/>
            <p:cNvSpPr>
              <a:spLocks noChangeArrowheads="1"/>
            </p:cNvSpPr>
            <p:nvPr/>
          </p:nvSpPr>
          <p:spPr bwMode="auto">
            <a:xfrm>
              <a:off x="4833" y="1834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14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791" name="Rectangle 26"/>
            <p:cNvSpPr>
              <a:spLocks noChangeArrowheads="1"/>
            </p:cNvSpPr>
            <p:nvPr/>
          </p:nvSpPr>
          <p:spPr bwMode="auto">
            <a:xfrm>
              <a:off x="5064" y="1834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15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792" name="Rectangle 27"/>
            <p:cNvSpPr>
              <a:spLocks noChangeArrowheads="1"/>
            </p:cNvSpPr>
            <p:nvPr/>
          </p:nvSpPr>
          <p:spPr bwMode="auto">
            <a:xfrm>
              <a:off x="1638" y="2111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793" name="Rectangle 28"/>
            <p:cNvSpPr>
              <a:spLocks noChangeArrowheads="1"/>
            </p:cNvSpPr>
            <p:nvPr/>
          </p:nvSpPr>
          <p:spPr bwMode="auto">
            <a:xfrm>
              <a:off x="1869" y="2111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2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794" name="Rectangle 29"/>
            <p:cNvSpPr>
              <a:spLocks noChangeArrowheads="1"/>
            </p:cNvSpPr>
            <p:nvPr/>
          </p:nvSpPr>
          <p:spPr bwMode="auto">
            <a:xfrm>
              <a:off x="2100" y="2111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3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795" name="Rectangle 30"/>
            <p:cNvSpPr>
              <a:spLocks noChangeArrowheads="1"/>
            </p:cNvSpPr>
            <p:nvPr/>
          </p:nvSpPr>
          <p:spPr bwMode="auto">
            <a:xfrm>
              <a:off x="2331" y="2111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4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796" name="Rectangle 31"/>
            <p:cNvSpPr>
              <a:spLocks noChangeArrowheads="1"/>
            </p:cNvSpPr>
            <p:nvPr/>
          </p:nvSpPr>
          <p:spPr bwMode="auto">
            <a:xfrm>
              <a:off x="2561" y="2111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5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797" name="Rectangle 32"/>
            <p:cNvSpPr>
              <a:spLocks noChangeArrowheads="1"/>
            </p:cNvSpPr>
            <p:nvPr/>
          </p:nvSpPr>
          <p:spPr bwMode="auto">
            <a:xfrm>
              <a:off x="2792" y="2111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6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798" name="Rectangle 33"/>
            <p:cNvSpPr>
              <a:spLocks noChangeArrowheads="1"/>
            </p:cNvSpPr>
            <p:nvPr/>
          </p:nvSpPr>
          <p:spPr bwMode="auto">
            <a:xfrm>
              <a:off x="3023" y="2111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7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799" name="Rectangle 34"/>
            <p:cNvSpPr>
              <a:spLocks noChangeArrowheads="1"/>
            </p:cNvSpPr>
            <p:nvPr/>
          </p:nvSpPr>
          <p:spPr bwMode="auto">
            <a:xfrm>
              <a:off x="3254" y="2111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8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00" name="Rectangle 35"/>
            <p:cNvSpPr>
              <a:spLocks noChangeArrowheads="1"/>
            </p:cNvSpPr>
            <p:nvPr/>
          </p:nvSpPr>
          <p:spPr bwMode="auto">
            <a:xfrm>
              <a:off x="3485" y="2111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9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01" name="Rectangle 36"/>
            <p:cNvSpPr>
              <a:spLocks noChangeArrowheads="1"/>
            </p:cNvSpPr>
            <p:nvPr/>
          </p:nvSpPr>
          <p:spPr bwMode="auto">
            <a:xfrm>
              <a:off x="3678" y="2111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02" name="Rectangle 37"/>
            <p:cNvSpPr>
              <a:spLocks noChangeArrowheads="1"/>
            </p:cNvSpPr>
            <p:nvPr/>
          </p:nvSpPr>
          <p:spPr bwMode="auto">
            <a:xfrm>
              <a:off x="3909" y="2111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11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03" name="Rectangle 38"/>
            <p:cNvSpPr>
              <a:spLocks noChangeArrowheads="1"/>
            </p:cNvSpPr>
            <p:nvPr/>
          </p:nvSpPr>
          <p:spPr bwMode="auto">
            <a:xfrm>
              <a:off x="4140" y="2111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12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04" name="Rectangle 39"/>
            <p:cNvSpPr>
              <a:spLocks noChangeArrowheads="1"/>
            </p:cNvSpPr>
            <p:nvPr/>
          </p:nvSpPr>
          <p:spPr bwMode="auto">
            <a:xfrm>
              <a:off x="4371" y="2111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13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05" name="Rectangle 40"/>
            <p:cNvSpPr>
              <a:spLocks noChangeArrowheads="1"/>
            </p:cNvSpPr>
            <p:nvPr/>
          </p:nvSpPr>
          <p:spPr bwMode="auto">
            <a:xfrm>
              <a:off x="4602" y="2111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14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06" name="Rectangle 41"/>
            <p:cNvSpPr>
              <a:spLocks noChangeArrowheads="1"/>
            </p:cNvSpPr>
            <p:nvPr/>
          </p:nvSpPr>
          <p:spPr bwMode="auto">
            <a:xfrm>
              <a:off x="4833" y="2111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15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07" name="Rectangle 42"/>
            <p:cNvSpPr>
              <a:spLocks noChangeArrowheads="1"/>
            </p:cNvSpPr>
            <p:nvPr/>
          </p:nvSpPr>
          <p:spPr bwMode="auto">
            <a:xfrm>
              <a:off x="5064" y="2111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16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08" name="Rectangle 43"/>
            <p:cNvSpPr>
              <a:spLocks noChangeArrowheads="1"/>
            </p:cNvSpPr>
            <p:nvPr/>
          </p:nvSpPr>
          <p:spPr bwMode="auto">
            <a:xfrm>
              <a:off x="1638" y="2388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2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09" name="Rectangle 44"/>
            <p:cNvSpPr>
              <a:spLocks noChangeArrowheads="1"/>
            </p:cNvSpPr>
            <p:nvPr/>
          </p:nvSpPr>
          <p:spPr bwMode="auto">
            <a:xfrm>
              <a:off x="1869" y="2388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3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10" name="Rectangle 45"/>
            <p:cNvSpPr>
              <a:spLocks noChangeArrowheads="1"/>
            </p:cNvSpPr>
            <p:nvPr/>
          </p:nvSpPr>
          <p:spPr bwMode="auto">
            <a:xfrm>
              <a:off x="2100" y="2388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4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11" name="Rectangle 46"/>
            <p:cNvSpPr>
              <a:spLocks noChangeArrowheads="1"/>
            </p:cNvSpPr>
            <p:nvPr/>
          </p:nvSpPr>
          <p:spPr bwMode="auto">
            <a:xfrm>
              <a:off x="2331" y="2388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5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12" name="Rectangle 47"/>
            <p:cNvSpPr>
              <a:spLocks noChangeArrowheads="1"/>
            </p:cNvSpPr>
            <p:nvPr/>
          </p:nvSpPr>
          <p:spPr bwMode="auto">
            <a:xfrm>
              <a:off x="2561" y="2388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6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13" name="Rectangle 48"/>
            <p:cNvSpPr>
              <a:spLocks noChangeArrowheads="1"/>
            </p:cNvSpPr>
            <p:nvPr/>
          </p:nvSpPr>
          <p:spPr bwMode="auto">
            <a:xfrm>
              <a:off x="2792" y="2388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7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14" name="Rectangle 49"/>
            <p:cNvSpPr>
              <a:spLocks noChangeArrowheads="1"/>
            </p:cNvSpPr>
            <p:nvPr/>
          </p:nvSpPr>
          <p:spPr bwMode="auto">
            <a:xfrm>
              <a:off x="3023" y="2388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8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15" name="Rectangle 50"/>
            <p:cNvSpPr>
              <a:spLocks noChangeArrowheads="1"/>
            </p:cNvSpPr>
            <p:nvPr/>
          </p:nvSpPr>
          <p:spPr bwMode="auto">
            <a:xfrm>
              <a:off x="3254" y="2388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9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16" name="Rectangle 51"/>
            <p:cNvSpPr>
              <a:spLocks noChangeArrowheads="1"/>
            </p:cNvSpPr>
            <p:nvPr/>
          </p:nvSpPr>
          <p:spPr bwMode="auto">
            <a:xfrm>
              <a:off x="3447" y="2388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17" name="Rectangle 52"/>
            <p:cNvSpPr>
              <a:spLocks noChangeArrowheads="1"/>
            </p:cNvSpPr>
            <p:nvPr/>
          </p:nvSpPr>
          <p:spPr bwMode="auto">
            <a:xfrm>
              <a:off x="3678" y="2388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11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18" name="Rectangle 53"/>
            <p:cNvSpPr>
              <a:spLocks noChangeArrowheads="1"/>
            </p:cNvSpPr>
            <p:nvPr/>
          </p:nvSpPr>
          <p:spPr bwMode="auto">
            <a:xfrm>
              <a:off x="3909" y="2388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12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19" name="Rectangle 54"/>
            <p:cNvSpPr>
              <a:spLocks noChangeArrowheads="1"/>
            </p:cNvSpPr>
            <p:nvPr/>
          </p:nvSpPr>
          <p:spPr bwMode="auto">
            <a:xfrm>
              <a:off x="4140" y="2388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13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20" name="Rectangle 55"/>
            <p:cNvSpPr>
              <a:spLocks noChangeArrowheads="1"/>
            </p:cNvSpPr>
            <p:nvPr/>
          </p:nvSpPr>
          <p:spPr bwMode="auto">
            <a:xfrm>
              <a:off x="4371" y="2388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14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21" name="Rectangle 56"/>
            <p:cNvSpPr>
              <a:spLocks noChangeArrowheads="1"/>
            </p:cNvSpPr>
            <p:nvPr/>
          </p:nvSpPr>
          <p:spPr bwMode="auto">
            <a:xfrm>
              <a:off x="4602" y="2388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15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22" name="Rectangle 57"/>
            <p:cNvSpPr>
              <a:spLocks noChangeArrowheads="1"/>
            </p:cNvSpPr>
            <p:nvPr/>
          </p:nvSpPr>
          <p:spPr bwMode="auto">
            <a:xfrm>
              <a:off x="4833" y="2388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16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23" name="Rectangle 58"/>
            <p:cNvSpPr>
              <a:spLocks noChangeArrowheads="1"/>
            </p:cNvSpPr>
            <p:nvPr/>
          </p:nvSpPr>
          <p:spPr bwMode="auto">
            <a:xfrm>
              <a:off x="5064" y="2388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17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24" name="Rectangle 59"/>
            <p:cNvSpPr>
              <a:spLocks noChangeArrowheads="1"/>
            </p:cNvSpPr>
            <p:nvPr/>
          </p:nvSpPr>
          <p:spPr bwMode="auto">
            <a:xfrm>
              <a:off x="1638" y="2666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3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25" name="Rectangle 60"/>
            <p:cNvSpPr>
              <a:spLocks noChangeArrowheads="1"/>
            </p:cNvSpPr>
            <p:nvPr/>
          </p:nvSpPr>
          <p:spPr bwMode="auto">
            <a:xfrm>
              <a:off x="1869" y="2666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4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26" name="Rectangle 61"/>
            <p:cNvSpPr>
              <a:spLocks noChangeArrowheads="1"/>
            </p:cNvSpPr>
            <p:nvPr/>
          </p:nvSpPr>
          <p:spPr bwMode="auto">
            <a:xfrm>
              <a:off x="2100" y="2666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5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27" name="Rectangle 62"/>
            <p:cNvSpPr>
              <a:spLocks noChangeArrowheads="1"/>
            </p:cNvSpPr>
            <p:nvPr/>
          </p:nvSpPr>
          <p:spPr bwMode="auto">
            <a:xfrm>
              <a:off x="2331" y="2666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6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28" name="Rectangle 63"/>
            <p:cNvSpPr>
              <a:spLocks noChangeArrowheads="1"/>
            </p:cNvSpPr>
            <p:nvPr/>
          </p:nvSpPr>
          <p:spPr bwMode="auto">
            <a:xfrm>
              <a:off x="2561" y="2666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7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29" name="Rectangle 64"/>
            <p:cNvSpPr>
              <a:spLocks noChangeArrowheads="1"/>
            </p:cNvSpPr>
            <p:nvPr/>
          </p:nvSpPr>
          <p:spPr bwMode="auto">
            <a:xfrm>
              <a:off x="2792" y="2666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8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30" name="Rectangle 65"/>
            <p:cNvSpPr>
              <a:spLocks noChangeArrowheads="1"/>
            </p:cNvSpPr>
            <p:nvPr/>
          </p:nvSpPr>
          <p:spPr bwMode="auto">
            <a:xfrm>
              <a:off x="3023" y="2666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9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31" name="Rectangle 66"/>
            <p:cNvSpPr>
              <a:spLocks noChangeArrowheads="1"/>
            </p:cNvSpPr>
            <p:nvPr/>
          </p:nvSpPr>
          <p:spPr bwMode="auto">
            <a:xfrm>
              <a:off x="3216" y="2666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32" name="Rectangle 67"/>
            <p:cNvSpPr>
              <a:spLocks noChangeArrowheads="1"/>
            </p:cNvSpPr>
            <p:nvPr/>
          </p:nvSpPr>
          <p:spPr bwMode="auto">
            <a:xfrm>
              <a:off x="3447" y="2666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11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33" name="Rectangle 68"/>
            <p:cNvSpPr>
              <a:spLocks noChangeArrowheads="1"/>
            </p:cNvSpPr>
            <p:nvPr/>
          </p:nvSpPr>
          <p:spPr bwMode="auto">
            <a:xfrm>
              <a:off x="3678" y="2666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12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34" name="Rectangle 69"/>
            <p:cNvSpPr>
              <a:spLocks noChangeArrowheads="1"/>
            </p:cNvSpPr>
            <p:nvPr/>
          </p:nvSpPr>
          <p:spPr bwMode="auto">
            <a:xfrm>
              <a:off x="3909" y="2666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13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35" name="Rectangle 70"/>
            <p:cNvSpPr>
              <a:spLocks noChangeArrowheads="1"/>
            </p:cNvSpPr>
            <p:nvPr/>
          </p:nvSpPr>
          <p:spPr bwMode="auto">
            <a:xfrm>
              <a:off x="4140" y="2666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14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36" name="Rectangle 71"/>
            <p:cNvSpPr>
              <a:spLocks noChangeArrowheads="1"/>
            </p:cNvSpPr>
            <p:nvPr/>
          </p:nvSpPr>
          <p:spPr bwMode="auto">
            <a:xfrm>
              <a:off x="4371" y="2666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15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37" name="Rectangle 72"/>
            <p:cNvSpPr>
              <a:spLocks noChangeArrowheads="1"/>
            </p:cNvSpPr>
            <p:nvPr/>
          </p:nvSpPr>
          <p:spPr bwMode="auto">
            <a:xfrm>
              <a:off x="4602" y="2666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16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38" name="Rectangle 73"/>
            <p:cNvSpPr>
              <a:spLocks noChangeArrowheads="1"/>
            </p:cNvSpPr>
            <p:nvPr/>
          </p:nvSpPr>
          <p:spPr bwMode="auto">
            <a:xfrm>
              <a:off x="4833" y="2666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17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39" name="Rectangle 74"/>
            <p:cNvSpPr>
              <a:spLocks noChangeArrowheads="1"/>
            </p:cNvSpPr>
            <p:nvPr/>
          </p:nvSpPr>
          <p:spPr bwMode="auto">
            <a:xfrm>
              <a:off x="5064" y="2666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18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40" name="Rectangle 75"/>
            <p:cNvSpPr>
              <a:spLocks noChangeArrowheads="1"/>
            </p:cNvSpPr>
            <p:nvPr/>
          </p:nvSpPr>
          <p:spPr bwMode="auto">
            <a:xfrm>
              <a:off x="1638" y="2943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4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41" name="Rectangle 76"/>
            <p:cNvSpPr>
              <a:spLocks noChangeArrowheads="1"/>
            </p:cNvSpPr>
            <p:nvPr/>
          </p:nvSpPr>
          <p:spPr bwMode="auto">
            <a:xfrm>
              <a:off x="1869" y="2943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5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42" name="Rectangle 77"/>
            <p:cNvSpPr>
              <a:spLocks noChangeArrowheads="1"/>
            </p:cNvSpPr>
            <p:nvPr/>
          </p:nvSpPr>
          <p:spPr bwMode="auto">
            <a:xfrm>
              <a:off x="2100" y="2943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6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43" name="Rectangle 78"/>
            <p:cNvSpPr>
              <a:spLocks noChangeArrowheads="1"/>
            </p:cNvSpPr>
            <p:nvPr/>
          </p:nvSpPr>
          <p:spPr bwMode="auto">
            <a:xfrm>
              <a:off x="2331" y="2943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7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44" name="Rectangle 79"/>
            <p:cNvSpPr>
              <a:spLocks noChangeArrowheads="1"/>
            </p:cNvSpPr>
            <p:nvPr/>
          </p:nvSpPr>
          <p:spPr bwMode="auto">
            <a:xfrm>
              <a:off x="2561" y="2943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8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45" name="Rectangle 80"/>
            <p:cNvSpPr>
              <a:spLocks noChangeArrowheads="1"/>
            </p:cNvSpPr>
            <p:nvPr/>
          </p:nvSpPr>
          <p:spPr bwMode="auto">
            <a:xfrm>
              <a:off x="2792" y="2943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9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46" name="Rectangle 81"/>
            <p:cNvSpPr>
              <a:spLocks noChangeArrowheads="1"/>
            </p:cNvSpPr>
            <p:nvPr/>
          </p:nvSpPr>
          <p:spPr bwMode="auto">
            <a:xfrm>
              <a:off x="2985" y="2943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47" name="Rectangle 82"/>
            <p:cNvSpPr>
              <a:spLocks noChangeArrowheads="1"/>
            </p:cNvSpPr>
            <p:nvPr/>
          </p:nvSpPr>
          <p:spPr bwMode="auto">
            <a:xfrm>
              <a:off x="3216" y="2943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11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48" name="Rectangle 83"/>
            <p:cNvSpPr>
              <a:spLocks noChangeArrowheads="1"/>
            </p:cNvSpPr>
            <p:nvPr/>
          </p:nvSpPr>
          <p:spPr bwMode="auto">
            <a:xfrm>
              <a:off x="3447" y="2943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12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49" name="Rectangle 84"/>
            <p:cNvSpPr>
              <a:spLocks noChangeArrowheads="1"/>
            </p:cNvSpPr>
            <p:nvPr/>
          </p:nvSpPr>
          <p:spPr bwMode="auto">
            <a:xfrm>
              <a:off x="3678" y="2943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13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50" name="Rectangle 85"/>
            <p:cNvSpPr>
              <a:spLocks noChangeArrowheads="1"/>
            </p:cNvSpPr>
            <p:nvPr/>
          </p:nvSpPr>
          <p:spPr bwMode="auto">
            <a:xfrm>
              <a:off x="3909" y="2943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14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51" name="Rectangle 86"/>
            <p:cNvSpPr>
              <a:spLocks noChangeArrowheads="1"/>
            </p:cNvSpPr>
            <p:nvPr/>
          </p:nvSpPr>
          <p:spPr bwMode="auto">
            <a:xfrm>
              <a:off x="4140" y="2943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15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52" name="Rectangle 87"/>
            <p:cNvSpPr>
              <a:spLocks noChangeArrowheads="1"/>
            </p:cNvSpPr>
            <p:nvPr/>
          </p:nvSpPr>
          <p:spPr bwMode="auto">
            <a:xfrm>
              <a:off x="4371" y="2943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16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53" name="Rectangle 88"/>
            <p:cNvSpPr>
              <a:spLocks noChangeArrowheads="1"/>
            </p:cNvSpPr>
            <p:nvPr/>
          </p:nvSpPr>
          <p:spPr bwMode="auto">
            <a:xfrm>
              <a:off x="4602" y="2943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17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54" name="Rectangle 89"/>
            <p:cNvSpPr>
              <a:spLocks noChangeArrowheads="1"/>
            </p:cNvSpPr>
            <p:nvPr/>
          </p:nvSpPr>
          <p:spPr bwMode="auto">
            <a:xfrm>
              <a:off x="4833" y="2943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18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55" name="Rectangle 90"/>
            <p:cNvSpPr>
              <a:spLocks noChangeArrowheads="1"/>
            </p:cNvSpPr>
            <p:nvPr/>
          </p:nvSpPr>
          <p:spPr bwMode="auto">
            <a:xfrm>
              <a:off x="5064" y="2943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19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56" name="Rectangle 91"/>
            <p:cNvSpPr>
              <a:spLocks noChangeArrowheads="1"/>
            </p:cNvSpPr>
            <p:nvPr/>
          </p:nvSpPr>
          <p:spPr bwMode="auto">
            <a:xfrm>
              <a:off x="1638" y="3220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5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57" name="Rectangle 92"/>
            <p:cNvSpPr>
              <a:spLocks noChangeArrowheads="1"/>
            </p:cNvSpPr>
            <p:nvPr/>
          </p:nvSpPr>
          <p:spPr bwMode="auto">
            <a:xfrm>
              <a:off x="1869" y="3220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6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58" name="Rectangle 93"/>
            <p:cNvSpPr>
              <a:spLocks noChangeArrowheads="1"/>
            </p:cNvSpPr>
            <p:nvPr/>
          </p:nvSpPr>
          <p:spPr bwMode="auto">
            <a:xfrm>
              <a:off x="2100" y="3220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7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59" name="Rectangle 94"/>
            <p:cNvSpPr>
              <a:spLocks noChangeArrowheads="1"/>
            </p:cNvSpPr>
            <p:nvPr/>
          </p:nvSpPr>
          <p:spPr bwMode="auto">
            <a:xfrm>
              <a:off x="2331" y="3220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8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60" name="Rectangle 95"/>
            <p:cNvSpPr>
              <a:spLocks noChangeArrowheads="1"/>
            </p:cNvSpPr>
            <p:nvPr/>
          </p:nvSpPr>
          <p:spPr bwMode="auto">
            <a:xfrm>
              <a:off x="2561" y="3220"/>
              <a:ext cx="76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9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61" name="Rectangle 96"/>
            <p:cNvSpPr>
              <a:spLocks noChangeArrowheads="1"/>
            </p:cNvSpPr>
            <p:nvPr/>
          </p:nvSpPr>
          <p:spPr bwMode="auto">
            <a:xfrm>
              <a:off x="2754" y="3220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62" name="Rectangle 97"/>
            <p:cNvSpPr>
              <a:spLocks noChangeArrowheads="1"/>
            </p:cNvSpPr>
            <p:nvPr/>
          </p:nvSpPr>
          <p:spPr bwMode="auto">
            <a:xfrm>
              <a:off x="2985" y="3220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11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63" name="Rectangle 98"/>
            <p:cNvSpPr>
              <a:spLocks noChangeArrowheads="1"/>
            </p:cNvSpPr>
            <p:nvPr/>
          </p:nvSpPr>
          <p:spPr bwMode="auto">
            <a:xfrm>
              <a:off x="3216" y="3220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12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64" name="Rectangle 99"/>
            <p:cNvSpPr>
              <a:spLocks noChangeArrowheads="1"/>
            </p:cNvSpPr>
            <p:nvPr/>
          </p:nvSpPr>
          <p:spPr bwMode="auto">
            <a:xfrm>
              <a:off x="3447" y="3220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13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65" name="Rectangle 100"/>
            <p:cNvSpPr>
              <a:spLocks noChangeArrowheads="1"/>
            </p:cNvSpPr>
            <p:nvPr/>
          </p:nvSpPr>
          <p:spPr bwMode="auto">
            <a:xfrm>
              <a:off x="3678" y="3220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14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66" name="Rectangle 101"/>
            <p:cNvSpPr>
              <a:spLocks noChangeArrowheads="1"/>
            </p:cNvSpPr>
            <p:nvPr/>
          </p:nvSpPr>
          <p:spPr bwMode="auto">
            <a:xfrm>
              <a:off x="3909" y="3220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15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67" name="Rectangle 102"/>
            <p:cNvSpPr>
              <a:spLocks noChangeArrowheads="1"/>
            </p:cNvSpPr>
            <p:nvPr/>
          </p:nvSpPr>
          <p:spPr bwMode="auto">
            <a:xfrm>
              <a:off x="4140" y="3220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16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68" name="Rectangle 103"/>
            <p:cNvSpPr>
              <a:spLocks noChangeArrowheads="1"/>
            </p:cNvSpPr>
            <p:nvPr/>
          </p:nvSpPr>
          <p:spPr bwMode="auto">
            <a:xfrm>
              <a:off x="4371" y="3220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17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69" name="Rectangle 104"/>
            <p:cNvSpPr>
              <a:spLocks noChangeArrowheads="1"/>
            </p:cNvSpPr>
            <p:nvPr/>
          </p:nvSpPr>
          <p:spPr bwMode="auto">
            <a:xfrm>
              <a:off x="4602" y="3220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18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70" name="Rectangle 105"/>
            <p:cNvSpPr>
              <a:spLocks noChangeArrowheads="1"/>
            </p:cNvSpPr>
            <p:nvPr/>
          </p:nvSpPr>
          <p:spPr bwMode="auto">
            <a:xfrm>
              <a:off x="4833" y="3220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19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71" name="Rectangle 106"/>
            <p:cNvSpPr>
              <a:spLocks noChangeArrowheads="1"/>
            </p:cNvSpPr>
            <p:nvPr/>
          </p:nvSpPr>
          <p:spPr bwMode="auto">
            <a:xfrm>
              <a:off x="5064" y="3220"/>
              <a:ext cx="15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20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72" name="Rectangle 107"/>
            <p:cNvSpPr>
              <a:spLocks noChangeArrowheads="1"/>
            </p:cNvSpPr>
            <p:nvPr/>
          </p:nvSpPr>
          <p:spPr bwMode="auto">
            <a:xfrm>
              <a:off x="2548" y="1181"/>
              <a:ext cx="1811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1">
                  <a:solidFill>
                    <a:srgbClr val="000000"/>
                  </a:solidFill>
                </a:rPr>
                <a:t>Quantity &amp; Refinement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73" name="Rectangle 108"/>
            <p:cNvSpPr>
              <a:spLocks noChangeArrowheads="1"/>
            </p:cNvSpPr>
            <p:nvPr/>
          </p:nvSpPr>
          <p:spPr bwMode="auto">
            <a:xfrm rot="-5400000">
              <a:off x="523" y="2483"/>
              <a:ext cx="905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1">
                  <a:solidFill>
                    <a:srgbClr val="000000"/>
                  </a:solidFill>
                </a:rPr>
                <a:t>Complexity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74" name="Rectangle 109"/>
            <p:cNvSpPr>
              <a:spLocks noChangeArrowheads="1"/>
            </p:cNvSpPr>
            <p:nvPr/>
          </p:nvSpPr>
          <p:spPr bwMode="auto">
            <a:xfrm rot="-5400000">
              <a:off x="1102" y="3024"/>
              <a:ext cx="575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 b="1">
                  <a:solidFill>
                    <a:srgbClr val="000000"/>
                  </a:solidFill>
                </a:rPr>
                <a:t>Complex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75" name="Rectangle 110"/>
            <p:cNvSpPr>
              <a:spLocks noChangeArrowheads="1"/>
            </p:cNvSpPr>
            <p:nvPr/>
          </p:nvSpPr>
          <p:spPr bwMode="auto">
            <a:xfrm rot="-5400000">
              <a:off x="1166" y="1942"/>
              <a:ext cx="447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 b="1">
                  <a:solidFill>
                    <a:srgbClr val="000000"/>
                  </a:solidFill>
                </a:rPr>
                <a:t>Simple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76" name="Rectangle 111"/>
            <p:cNvSpPr>
              <a:spLocks noChangeArrowheads="1"/>
            </p:cNvSpPr>
            <p:nvPr/>
          </p:nvSpPr>
          <p:spPr bwMode="auto">
            <a:xfrm>
              <a:off x="4456" y="1425"/>
              <a:ext cx="811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 b="1">
                  <a:solidFill>
                    <a:srgbClr val="000000"/>
                  </a:solidFill>
                </a:rPr>
                <a:t>Extensive &amp; 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77" name="Rectangle 112"/>
            <p:cNvSpPr>
              <a:spLocks noChangeArrowheads="1"/>
            </p:cNvSpPr>
            <p:nvPr/>
          </p:nvSpPr>
          <p:spPr bwMode="auto">
            <a:xfrm>
              <a:off x="4604" y="1606"/>
              <a:ext cx="620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 b="1">
                  <a:solidFill>
                    <a:srgbClr val="000000"/>
                  </a:solidFill>
                </a:rPr>
                <a:t>Complete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78" name="Rectangle 113"/>
            <p:cNvSpPr>
              <a:spLocks noChangeArrowheads="1"/>
            </p:cNvSpPr>
            <p:nvPr/>
          </p:nvSpPr>
          <p:spPr bwMode="auto">
            <a:xfrm>
              <a:off x="1580" y="1516"/>
              <a:ext cx="764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 b="1">
                  <a:solidFill>
                    <a:srgbClr val="000000"/>
                  </a:solidFill>
                </a:rPr>
                <a:t>Little added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79" name="Rectangle 114"/>
            <p:cNvSpPr>
              <a:spLocks noChangeArrowheads="1"/>
            </p:cNvSpPr>
            <p:nvPr/>
          </p:nvSpPr>
          <p:spPr bwMode="auto">
            <a:xfrm>
              <a:off x="2776" y="1516"/>
              <a:ext cx="1014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 b="1">
                  <a:solidFill>
                    <a:srgbClr val="000000"/>
                  </a:solidFill>
                </a:rPr>
                <a:t>Moderate Detail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2880" name="Rectangle 115"/>
            <p:cNvSpPr>
              <a:spLocks noChangeArrowheads="1"/>
            </p:cNvSpPr>
            <p:nvPr/>
          </p:nvSpPr>
          <p:spPr bwMode="auto">
            <a:xfrm>
              <a:off x="1539" y="1118"/>
              <a:ext cx="27" cy="233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81" name="Rectangle 116"/>
            <p:cNvSpPr>
              <a:spLocks noChangeArrowheads="1"/>
            </p:cNvSpPr>
            <p:nvPr/>
          </p:nvSpPr>
          <p:spPr bwMode="auto">
            <a:xfrm>
              <a:off x="5234" y="1145"/>
              <a:ext cx="28" cy="2303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82" name="Rectangle 117"/>
            <p:cNvSpPr>
              <a:spLocks noChangeArrowheads="1"/>
            </p:cNvSpPr>
            <p:nvPr/>
          </p:nvSpPr>
          <p:spPr bwMode="auto">
            <a:xfrm>
              <a:off x="703" y="1757"/>
              <a:ext cx="27" cy="169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83" name="Rectangle 118"/>
            <p:cNvSpPr>
              <a:spLocks noChangeArrowheads="1"/>
            </p:cNvSpPr>
            <p:nvPr/>
          </p:nvSpPr>
          <p:spPr bwMode="auto">
            <a:xfrm>
              <a:off x="1220" y="1785"/>
              <a:ext cx="27" cy="1663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84" name="Line 119"/>
            <p:cNvSpPr>
              <a:spLocks noChangeShapeType="1"/>
            </p:cNvSpPr>
            <p:nvPr/>
          </p:nvSpPr>
          <p:spPr bwMode="auto">
            <a:xfrm>
              <a:off x="1778" y="1785"/>
              <a:ext cx="1" cy="16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85" name="Rectangle 120"/>
            <p:cNvSpPr>
              <a:spLocks noChangeArrowheads="1"/>
            </p:cNvSpPr>
            <p:nvPr/>
          </p:nvSpPr>
          <p:spPr bwMode="auto">
            <a:xfrm>
              <a:off x="1778" y="1785"/>
              <a:ext cx="14" cy="163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86" name="Line 121"/>
            <p:cNvSpPr>
              <a:spLocks noChangeShapeType="1"/>
            </p:cNvSpPr>
            <p:nvPr/>
          </p:nvSpPr>
          <p:spPr bwMode="auto">
            <a:xfrm>
              <a:off x="2009" y="1785"/>
              <a:ext cx="1" cy="16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87" name="Rectangle 122"/>
            <p:cNvSpPr>
              <a:spLocks noChangeArrowheads="1"/>
            </p:cNvSpPr>
            <p:nvPr/>
          </p:nvSpPr>
          <p:spPr bwMode="auto">
            <a:xfrm>
              <a:off x="2009" y="1785"/>
              <a:ext cx="14" cy="163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88" name="Line 123"/>
            <p:cNvSpPr>
              <a:spLocks noChangeShapeType="1"/>
            </p:cNvSpPr>
            <p:nvPr/>
          </p:nvSpPr>
          <p:spPr bwMode="auto">
            <a:xfrm>
              <a:off x="2240" y="1785"/>
              <a:ext cx="1" cy="16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89" name="Rectangle 124"/>
            <p:cNvSpPr>
              <a:spLocks noChangeArrowheads="1"/>
            </p:cNvSpPr>
            <p:nvPr/>
          </p:nvSpPr>
          <p:spPr bwMode="auto">
            <a:xfrm>
              <a:off x="2240" y="1785"/>
              <a:ext cx="14" cy="163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90" name="Line 125"/>
            <p:cNvSpPr>
              <a:spLocks noChangeShapeType="1"/>
            </p:cNvSpPr>
            <p:nvPr/>
          </p:nvSpPr>
          <p:spPr bwMode="auto">
            <a:xfrm>
              <a:off x="2471" y="1785"/>
              <a:ext cx="1" cy="16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91" name="Rectangle 126"/>
            <p:cNvSpPr>
              <a:spLocks noChangeArrowheads="1"/>
            </p:cNvSpPr>
            <p:nvPr/>
          </p:nvSpPr>
          <p:spPr bwMode="auto">
            <a:xfrm>
              <a:off x="2471" y="1785"/>
              <a:ext cx="14" cy="163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92" name="Line 127"/>
            <p:cNvSpPr>
              <a:spLocks noChangeShapeType="1"/>
            </p:cNvSpPr>
            <p:nvPr/>
          </p:nvSpPr>
          <p:spPr bwMode="auto">
            <a:xfrm>
              <a:off x="2702" y="1785"/>
              <a:ext cx="1" cy="16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93" name="Rectangle 128"/>
            <p:cNvSpPr>
              <a:spLocks noChangeArrowheads="1"/>
            </p:cNvSpPr>
            <p:nvPr/>
          </p:nvSpPr>
          <p:spPr bwMode="auto">
            <a:xfrm>
              <a:off x="2702" y="1785"/>
              <a:ext cx="13" cy="163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94" name="Line 129"/>
            <p:cNvSpPr>
              <a:spLocks noChangeShapeType="1"/>
            </p:cNvSpPr>
            <p:nvPr/>
          </p:nvSpPr>
          <p:spPr bwMode="auto">
            <a:xfrm>
              <a:off x="2933" y="1785"/>
              <a:ext cx="1" cy="16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95" name="Rectangle 130"/>
            <p:cNvSpPr>
              <a:spLocks noChangeArrowheads="1"/>
            </p:cNvSpPr>
            <p:nvPr/>
          </p:nvSpPr>
          <p:spPr bwMode="auto">
            <a:xfrm>
              <a:off x="2933" y="1785"/>
              <a:ext cx="13" cy="163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96" name="Line 131"/>
            <p:cNvSpPr>
              <a:spLocks noChangeShapeType="1"/>
            </p:cNvSpPr>
            <p:nvPr/>
          </p:nvSpPr>
          <p:spPr bwMode="auto">
            <a:xfrm>
              <a:off x="3164" y="1785"/>
              <a:ext cx="1" cy="16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97" name="Rectangle 132"/>
            <p:cNvSpPr>
              <a:spLocks noChangeArrowheads="1"/>
            </p:cNvSpPr>
            <p:nvPr/>
          </p:nvSpPr>
          <p:spPr bwMode="auto">
            <a:xfrm>
              <a:off x="3164" y="1785"/>
              <a:ext cx="13" cy="163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98" name="Line 133"/>
            <p:cNvSpPr>
              <a:spLocks noChangeShapeType="1"/>
            </p:cNvSpPr>
            <p:nvPr/>
          </p:nvSpPr>
          <p:spPr bwMode="auto">
            <a:xfrm>
              <a:off x="3395" y="1785"/>
              <a:ext cx="1" cy="16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99" name="Rectangle 134"/>
            <p:cNvSpPr>
              <a:spLocks noChangeArrowheads="1"/>
            </p:cNvSpPr>
            <p:nvPr/>
          </p:nvSpPr>
          <p:spPr bwMode="auto">
            <a:xfrm>
              <a:off x="3395" y="1785"/>
              <a:ext cx="13" cy="163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00" name="Line 135"/>
            <p:cNvSpPr>
              <a:spLocks noChangeShapeType="1"/>
            </p:cNvSpPr>
            <p:nvPr/>
          </p:nvSpPr>
          <p:spPr bwMode="auto">
            <a:xfrm>
              <a:off x="3626" y="1785"/>
              <a:ext cx="1" cy="16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01" name="Rectangle 136"/>
            <p:cNvSpPr>
              <a:spLocks noChangeArrowheads="1"/>
            </p:cNvSpPr>
            <p:nvPr/>
          </p:nvSpPr>
          <p:spPr bwMode="auto">
            <a:xfrm>
              <a:off x="3626" y="1785"/>
              <a:ext cx="13" cy="163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02" name="Line 137"/>
            <p:cNvSpPr>
              <a:spLocks noChangeShapeType="1"/>
            </p:cNvSpPr>
            <p:nvPr/>
          </p:nvSpPr>
          <p:spPr bwMode="auto">
            <a:xfrm>
              <a:off x="3857" y="1785"/>
              <a:ext cx="1" cy="16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03" name="Rectangle 138"/>
            <p:cNvSpPr>
              <a:spLocks noChangeArrowheads="1"/>
            </p:cNvSpPr>
            <p:nvPr/>
          </p:nvSpPr>
          <p:spPr bwMode="auto">
            <a:xfrm>
              <a:off x="3857" y="1785"/>
              <a:ext cx="13" cy="163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04" name="Line 139"/>
            <p:cNvSpPr>
              <a:spLocks noChangeShapeType="1"/>
            </p:cNvSpPr>
            <p:nvPr/>
          </p:nvSpPr>
          <p:spPr bwMode="auto">
            <a:xfrm>
              <a:off x="4088" y="1785"/>
              <a:ext cx="1" cy="16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05" name="Rectangle 140"/>
            <p:cNvSpPr>
              <a:spLocks noChangeArrowheads="1"/>
            </p:cNvSpPr>
            <p:nvPr/>
          </p:nvSpPr>
          <p:spPr bwMode="auto">
            <a:xfrm>
              <a:off x="4088" y="1785"/>
              <a:ext cx="13" cy="163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06" name="Line 141"/>
            <p:cNvSpPr>
              <a:spLocks noChangeShapeType="1"/>
            </p:cNvSpPr>
            <p:nvPr/>
          </p:nvSpPr>
          <p:spPr bwMode="auto">
            <a:xfrm>
              <a:off x="4319" y="1785"/>
              <a:ext cx="1" cy="16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07" name="Rectangle 142"/>
            <p:cNvSpPr>
              <a:spLocks noChangeArrowheads="1"/>
            </p:cNvSpPr>
            <p:nvPr/>
          </p:nvSpPr>
          <p:spPr bwMode="auto">
            <a:xfrm>
              <a:off x="4319" y="1785"/>
              <a:ext cx="13" cy="163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08" name="Line 143"/>
            <p:cNvSpPr>
              <a:spLocks noChangeShapeType="1"/>
            </p:cNvSpPr>
            <p:nvPr/>
          </p:nvSpPr>
          <p:spPr bwMode="auto">
            <a:xfrm>
              <a:off x="4549" y="1785"/>
              <a:ext cx="1" cy="16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09" name="Rectangle 144"/>
            <p:cNvSpPr>
              <a:spLocks noChangeArrowheads="1"/>
            </p:cNvSpPr>
            <p:nvPr/>
          </p:nvSpPr>
          <p:spPr bwMode="auto">
            <a:xfrm>
              <a:off x="4549" y="1785"/>
              <a:ext cx="14" cy="163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10" name="Line 145"/>
            <p:cNvSpPr>
              <a:spLocks noChangeShapeType="1"/>
            </p:cNvSpPr>
            <p:nvPr/>
          </p:nvSpPr>
          <p:spPr bwMode="auto">
            <a:xfrm>
              <a:off x="4780" y="1785"/>
              <a:ext cx="1" cy="16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11" name="Rectangle 146"/>
            <p:cNvSpPr>
              <a:spLocks noChangeArrowheads="1"/>
            </p:cNvSpPr>
            <p:nvPr/>
          </p:nvSpPr>
          <p:spPr bwMode="auto">
            <a:xfrm>
              <a:off x="4780" y="1785"/>
              <a:ext cx="14" cy="163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12" name="Line 147"/>
            <p:cNvSpPr>
              <a:spLocks noChangeShapeType="1"/>
            </p:cNvSpPr>
            <p:nvPr/>
          </p:nvSpPr>
          <p:spPr bwMode="auto">
            <a:xfrm>
              <a:off x="5011" y="1785"/>
              <a:ext cx="1" cy="16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13" name="Rectangle 148"/>
            <p:cNvSpPr>
              <a:spLocks noChangeArrowheads="1"/>
            </p:cNvSpPr>
            <p:nvPr/>
          </p:nvSpPr>
          <p:spPr bwMode="auto">
            <a:xfrm>
              <a:off x="5011" y="1785"/>
              <a:ext cx="14" cy="163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14" name="Rectangle 149"/>
            <p:cNvSpPr>
              <a:spLocks noChangeArrowheads="1"/>
            </p:cNvSpPr>
            <p:nvPr/>
          </p:nvSpPr>
          <p:spPr bwMode="auto">
            <a:xfrm>
              <a:off x="1566" y="1118"/>
              <a:ext cx="3696" cy="2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15" name="Rectangle 150"/>
            <p:cNvSpPr>
              <a:spLocks noChangeArrowheads="1"/>
            </p:cNvSpPr>
            <p:nvPr/>
          </p:nvSpPr>
          <p:spPr bwMode="auto">
            <a:xfrm>
              <a:off x="1566" y="1428"/>
              <a:ext cx="3696" cy="2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16" name="Rectangle 151"/>
            <p:cNvSpPr>
              <a:spLocks noChangeArrowheads="1"/>
            </p:cNvSpPr>
            <p:nvPr/>
          </p:nvSpPr>
          <p:spPr bwMode="auto">
            <a:xfrm>
              <a:off x="730" y="1757"/>
              <a:ext cx="4532" cy="28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17" name="Line 152"/>
            <p:cNvSpPr>
              <a:spLocks noChangeShapeType="1"/>
            </p:cNvSpPr>
            <p:nvPr/>
          </p:nvSpPr>
          <p:spPr bwMode="auto">
            <a:xfrm>
              <a:off x="1566" y="2043"/>
              <a:ext cx="366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18" name="Rectangle 153"/>
            <p:cNvSpPr>
              <a:spLocks noChangeArrowheads="1"/>
            </p:cNvSpPr>
            <p:nvPr/>
          </p:nvSpPr>
          <p:spPr bwMode="auto">
            <a:xfrm>
              <a:off x="1566" y="2043"/>
              <a:ext cx="3668" cy="13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19" name="Line 154"/>
            <p:cNvSpPr>
              <a:spLocks noChangeShapeType="1"/>
            </p:cNvSpPr>
            <p:nvPr/>
          </p:nvSpPr>
          <p:spPr bwMode="auto">
            <a:xfrm>
              <a:off x="1566" y="2320"/>
              <a:ext cx="366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20" name="Rectangle 155"/>
            <p:cNvSpPr>
              <a:spLocks noChangeArrowheads="1"/>
            </p:cNvSpPr>
            <p:nvPr/>
          </p:nvSpPr>
          <p:spPr bwMode="auto">
            <a:xfrm>
              <a:off x="1566" y="2320"/>
              <a:ext cx="3668" cy="13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21" name="Line 156"/>
            <p:cNvSpPr>
              <a:spLocks noChangeShapeType="1"/>
            </p:cNvSpPr>
            <p:nvPr/>
          </p:nvSpPr>
          <p:spPr bwMode="auto">
            <a:xfrm>
              <a:off x="1566" y="2597"/>
              <a:ext cx="366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22" name="Rectangle 157"/>
            <p:cNvSpPr>
              <a:spLocks noChangeArrowheads="1"/>
            </p:cNvSpPr>
            <p:nvPr/>
          </p:nvSpPr>
          <p:spPr bwMode="auto">
            <a:xfrm>
              <a:off x="1566" y="2597"/>
              <a:ext cx="3668" cy="14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23" name="Line 158"/>
            <p:cNvSpPr>
              <a:spLocks noChangeShapeType="1"/>
            </p:cNvSpPr>
            <p:nvPr/>
          </p:nvSpPr>
          <p:spPr bwMode="auto">
            <a:xfrm>
              <a:off x="1566" y="2874"/>
              <a:ext cx="366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24" name="Rectangle 159"/>
            <p:cNvSpPr>
              <a:spLocks noChangeArrowheads="1"/>
            </p:cNvSpPr>
            <p:nvPr/>
          </p:nvSpPr>
          <p:spPr bwMode="auto">
            <a:xfrm>
              <a:off x="1566" y="2874"/>
              <a:ext cx="3668" cy="14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25" name="Line 160"/>
            <p:cNvSpPr>
              <a:spLocks noChangeShapeType="1"/>
            </p:cNvSpPr>
            <p:nvPr/>
          </p:nvSpPr>
          <p:spPr bwMode="auto">
            <a:xfrm>
              <a:off x="1566" y="3151"/>
              <a:ext cx="366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26" name="Rectangle 161"/>
            <p:cNvSpPr>
              <a:spLocks noChangeArrowheads="1"/>
            </p:cNvSpPr>
            <p:nvPr/>
          </p:nvSpPr>
          <p:spPr bwMode="auto">
            <a:xfrm>
              <a:off x="1566" y="3151"/>
              <a:ext cx="3668" cy="14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27" name="Rectangle 162"/>
            <p:cNvSpPr>
              <a:spLocks noChangeArrowheads="1"/>
            </p:cNvSpPr>
            <p:nvPr/>
          </p:nvSpPr>
          <p:spPr bwMode="auto">
            <a:xfrm>
              <a:off x="730" y="3420"/>
              <a:ext cx="4532" cy="28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8" descr="loco smoke box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851025"/>
            <a:ext cx="3733800" cy="3128963"/>
          </a:xfrm>
          <a:noFill/>
        </p:spPr>
      </p:pic>
      <p:pic>
        <p:nvPicPr>
          <p:cNvPr id="33795" name="Picture 13" descr="Gon underbody detail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5018088" y="454025"/>
            <a:ext cx="3609975" cy="2874963"/>
          </a:xfrm>
          <a:noFill/>
        </p:spPr>
      </p:pic>
      <p:sp>
        <p:nvSpPr>
          <p:cNvPr id="70660" name="Text Box 4"/>
          <p:cNvSpPr txBox="1">
            <a:spLocks noChangeArrowheads="1"/>
          </p:cNvSpPr>
          <p:nvPr/>
        </p:nvSpPr>
        <p:spPr bwMode="auto">
          <a:xfrm>
            <a:off x="1100138" y="1003300"/>
            <a:ext cx="3298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solidFill>
                  <a:schemeClr val="accent2"/>
                </a:solidFill>
                <a:latin typeface="Arial Black" pitchFamily="34" charset="0"/>
              </a:rPr>
              <a:t>Detail Examples …</a:t>
            </a:r>
          </a:p>
        </p:txBody>
      </p:sp>
      <p:sp>
        <p:nvSpPr>
          <p:cNvPr id="33797" name="Text Box 6"/>
          <p:cNvSpPr txBox="1">
            <a:spLocks noChangeArrowheads="1"/>
          </p:cNvSpPr>
          <p:nvPr/>
        </p:nvSpPr>
        <p:spPr bwMode="auto">
          <a:xfrm>
            <a:off x="1431925" y="22510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pic>
        <p:nvPicPr>
          <p:cNvPr id="33798" name="Picture 15" descr="Timber Truss Detail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5029200" y="3405188"/>
            <a:ext cx="3617913" cy="2725737"/>
          </a:xfrm>
          <a:noFill/>
        </p:spPr>
      </p:pic>
      <p:sp>
        <p:nvSpPr>
          <p:cNvPr id="70674" name="Rectangle 18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38100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</a:t>
            </a:r>
            <a:b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</a:b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Model Contest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1025525" y="1739900"/>
            <a:ext cx="6240463" cy="406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i="1">
                <a:latin typeface="Arial Black" pitchFamily="34" charset="0"/>
                <a:cs typeface="Arial" charset="0"/>
              </a:rPr>
              <a:t> Focus – Quality and skill of finish</a:t>
            </a:r>
            <a:endParaRPr lang="en-US" b="1" i="1">
              <a:latin typeface="Arial Black" pitchFamily="34" charset="0"/>
            </a:endParaRPr>
          </a:p>
        </p:txBody>
      </p:sp>
      <p:sp>
        <p:nvSpPr>
          <p:cNvPr id="65540" name="Text Box 4"/>
          <p:cNvSpPr txBox="1">
            <a:spLocks noChangeArrowheads="1"/>
          </p:cNvSpPr>
          <p:nvPr/>
        </p:nvSpPr>
        <p:spPr bwMode="auto">
          <a:xfrm>
            <a:off x="1108075" y="917575"/>
            <a:ext cx="68754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2"/>
                </a:solidFill>
                <a:latin typeface="Arial Black" pitchFamily="34" charset="0"/>
              </a:rPr>
              <a:t>Appearance </a:t>
            </a:r>
            <a:r>
              <a:rPr lang="en-US">
                <a:solidFill>
                  <a:schemeClr val="accent2"/>
                </a:solidFill>
                <a:latin typeface="Arial Black" pitchFamily="34" charset="0"/>
              </a:rPr>
              <a:t>(25 pts. Total – 17.5 pts. Merit)</a:t>
            </a:r>
          </a:p>
        </p:txBody>
      </p:sp>
      <p:sp>
        <p:nvSpPr>
          <p:cNvPr id="34820" name="Text Box 5"/>
          <p:cNvSpPr txBox="1">
            <a:spLocks noChangeArrowheads="1"/>
          </p:cNvSpPr>
          <p:nvPr/>
        </p:nvSpPr>
        <p:spPr bwMode="auto">
          <a:xfrm>
            <a:off x="1203325" y="2360613"/>
            <a:ext cx="7208838" cy="374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Paint quality - smoothness, opacity &amp; evenness,crisp</a:t>
            </a:r>
            <a:br>
              <a:rPr lang="en-US"/>
            </a:br>
            <a:r>
              <a:rPr lang="en-US"/>
              <a:t>  transitions form color to color,correctness of color, and</a:t>
            </a:r>
          </a:p>
          <a:p>
            <a:r>
              <a:rPr lang="en-US"/>
              <a:t>  appropriateness  of shine or dullness of finish</a:t>
            </a:r>
          </a:p>
          <a:p>
            <a:pPr>
              <a:buFontTx/>
              <a:buChar char="•"/>
            </a:pPr>
            <a:r>
              <a:rPr lang="en-US"/>
              <a:t> Lettering quality – spacing, straightness, evenness, visibility</a:t>
            </a:r>
            <a:br>
              <a:rPr lang="en-US"/>
            </a:br>
            <a:r>
              <a:rPr lang="en-US"/>
              <a:t>  of film (decals), air bubbles</a:t>
            </a:r>
          </a:p>
          <a:p>
            <a:pPr>
              <a:buFontTx/>
              <a:buChar char="•"/>
            </a:pPr>
            <a:r>
              <a:rPr lang="en-US"/>
              <a:t> Important to describe (model description form) state of finish;</a:t>
            </a:r>
            <a:br>
              <a:rPr lang="en-US"/>
            </a:br>
            <a:r>
              <a:rPr lang="en-US"/>
              <a:t>  old/new, weathered/clean, if weathered what it might look like</a:t>
            </a:r>
            <a:br>
              <a:rPr lang="en-US"/>
            </a:br>
            <a:r>
              <a:rPr lang="en-US"/>
              <a:t>  source or circumstances leading to appearance   </a:t>
            </a:r>
          </a:p>
          <a:p>
            <a:pPr>
              <a:buFontTx/>
              <a:buChar char="•"/>
            </a:pPr>
            <a:r>
              <a:rPr lang="en-US"/>
              <a:t> Weathering not necessary, but if included appropriateness</a:t>
            </a:r>
            <a:br>
              <a:rPr lang="en-US"/>
            </a:br>
            <a:r>
              <a:rPr lang="en-US"/>
              <a:t>  to usage; is underside weathered, tracks, coupler</a:t>
            </a:r>
            <a:br>
              <a:rPr lang="en-US"/>
            </a:br>
            <a:r>
              <a:rPr lang="en-US"/>
              <a:t>  (everything you can see)</a:t>
            </a:r>
          </a:p>
          <a:p>
            <a:endParaRPr lang="en-US"/>
          </a:p>
        </p:txBody>
      </p:sp>
      <p:sp>
        <p:nvSpPr>
          <p:cNvPr id="65544" name="Rectangle 8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44069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1106488" y="942975"/>
            <a:ext cx="7439025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2"/>
                </a:solidFill>
                <a:latin typeface="Arial Black" pitchFamily="34" charset="0"/>
              </a:rPr>
              <a:t>Appearance Matrix </a:t>
            </a:r>
            <a:r>
              <a:rPr lang="en-US">
                <a:solidFill>
                  <a:schemeClr val="accent2"/>
                </a:solidFill>
              </a:rPr>
              <a:t>(25 pts. Total – 17.5 pts. Merit)</a:t>
            </a:r>
          </a:p>
          <a:p>
            <a:pPr>
              <a:defRPr/>
            </a:pPr>
            <a:endParaRPr lang="en-US" sz="2800">
              <a:solidFill>
                <a:schemeClr val="accent2"/>
              </a:solidFill>
              <a:latin typeface="Arial Black" pitchFamily="34" charset="0"/>
            </a:endParaRPr>
          </a:p>
        </p:txBody>
      </p:sp>
      <p:sp>
        <p:nvSpPr>
          <p:cNvPr id="35843" name="Text Box 4"/>
          <p:cNvSpPr txBox="1">
            <a:spLocks noChangeArrowheads="1"/>
          </p:cNvSpPr>
          <p:nvPr/>
        </p:nvSpPr>
        <p:spPr bwMode="auto">
          <a:xfrm>
            <a:off x="1431925" y="22510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sp>
        <p:nvSpPr>
          <p:cNvPr id="35844" name="Rectangle 160"/>
          <p:cNvSpPr>
            <a:spLocks noChangeArrowheads="1"/>
          </p:cNvSpPr>
          <p:nvPr/>
        </p:nvSpPr>
        <p:spPr bwMode="auto">
          <a:xfrm>
            <a:off x="1938338" y="24812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6722" name="Rectangle 162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43180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  <p:sp>
        <p:nvSpPr>
          <p:cNvPr id="35846" name="Rectangle 163"/>
          <p:cNvSpPr>
            <a:spLocks noChangeArrowheads="1"/>
          </p:cNvSpPr>
          <p:nvPr/>
        </p:nvSpPr>
        <p:spPr bwMode="auto">
          <a:xfrm rot="7934520">
            <a:off x="4648994" y="3740944"/>
            <a:ext cx="3895725" cy="347663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r>
              <a:rPr lang="en-US" sz="1400" b="1"/>
              <a:t>Merit Level</a:t>
            </a:r>
          </a:p>
        </p:txBody>
      </p:sp>
      <p:pic>
        <p:nvPicPr>
          <p:cNvPr id="35847" name="Picture 15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92213" y="1833563"/>
            <a:ext cx="7421562" cy="267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Text Box 3"/>
          <p:cNvSpPr txBox="1">
            <a:spLocks noChangeArrowheads="1"/>
          </p:cNvSpPr>
          <p:nvPr/>
        </p:nvSpPr>
        <p:spPr bwMode="auto">
          <a:xfrm>
            <a:off x="1036638" y="914400"/>
            <a:ext cx="4854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solidFill>
                  <a:schemeClr val="accent2"/>
                </a:solidFill>
                <a:latin typeface="Arial Black" pitchFamily="34" charset="0"/>
              </a:rPr>
              <a:t>Complexity of Finish Counts</a:t>
            </a:r>
          </a:p>
        </p:txBody>
      </p:sp>
      <p:graphicFrame>
        <p:nvGraphicFramePr>
          <p:cNvPr id="5122" name="Object 4"/>
          <p:cNvGraphicFramePr>
            <a:graphicFrameLocks noChangeAspect="1"/>
          </p:cNvGraphicFramePr>
          <p:nvPr/>
        </p:nvGraphicFramePr>
        <p:xfrm>
          <a:off x="1054100" y="2613025"/>
          <a:ext cx="5600700" cy="167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Photo Editor Photo" r:id="rId3" imgW="3809524" imgH="1142857" progId="">
                  <p:embed/>
                </p:oleObj>
              </mc:Choice>
              <mc:Fallback>
                <p:oleObj name="Photo Editor Photo" r:id="rId3" imgW="3809524" imgH="1142857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4100" y="2613025"/>
                        <a:ext cx="5600700" cy="167957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5"/>
          <p:cNvGraphicFramePr>
            <a:graphicFrameLocks noChangeAspect="1"/>
          </p:cNvGraphicFramePr>
          <p:nvPr/>
        </p:nvGraphicFramePr>
        <p:xfrm>
          <a:off x="3562350" y="4470400"/>
          <a:ext cx="49530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Photo Editor Photo" r:id="rId5" imgW="4153480" imgH="1714739" progId="">
                  <p:embed/>
                </p:oleObj>
              </mc:Choice>
              <mc:Fallback>
                <p:oleObj name="Photo Editor Photo" r:id="rId5" imgW="4153480" imgH="1714739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2350" y="4470400"/>
                        <a:ext cx="4953000" cy="20447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Text Box 6"/>
          <p:cNvSpPr txBox="1">
            <a:spLocks noChangeArrowheads="1"/>
          </p:cNvSpPr>
          <p:nvPr/>
        </p:nvSpPr>
        <p:spPr bwMode="auto">
          <a:xfrm>
            <a:off x="1152525" y="1712913"/>
            <a:ext cx="7521575" cy="70167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Multi-color paint schemes are more difficult and done equally well</a:t>
            </a:r>
          </a:p>
          <a:p>
            <a:r>
              <a:rPr lang="en-US"/>
              <a:t>will score higher than single color paint jobs.</a:t>
            </a:r>
          </a:p>
        </p:txBody>
      </p:sp>
      <p:sp>
        <p:nvSpPr>
          <p:cNvPr id="113672" name="Rectangle 8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43434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1025525" y="1739900"/>
            <a:ext cx="6672263" cy="406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i="1">
                <a:latin typeface="Arial Black" pitchFamily="34" charset="0"/>
                <a:cs typeface="Arial" charset="0"/>
              </a:rPr>
              <a:t> Focus – Amount of model built from scratch</a:t>
            </a:r>
            <a:endParaRPr lang="en-US" b="1" i="1">
              <a:latin typeface="Arial Black" pitchFamily="34" charset="0"/>
            </a:endParaRPr>
          </a:p>
        </p:txBody>
      </p:sp>
      <p:sp>
        <p:nvSpPr>
          <p:cNvPr id="67588" name="Text Box 4"/>
          <p:cNvSpPr txBox="1">
            <a:spLocks noChangeArrowheads="1"/>
          </p:cNvSpPr>
          <p:nvPr/>
        </p:nvSpPr>
        <p:spPr bwMode="auto">
          <a:xfrm>
            <a:off x="1108075" y="917575"/>
            <a:ext cx="76073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2"/>
                </a:solidFill>
                <a:latin typeface="Arial Black" pitchFamily="34" charset="0"/>
              </a:rPr>
              <a:t>Scratchbuilding </a:t>
            </a:r>
            <a:r>
              <a:rPr lang="en-US">
                <a:solidFill>
                  <a:schemeClr val="accent2"/>
                </a:solidFill>
                <a:latin typeface="Arial Black" pitchFamily="34" charset="0"/>
              </a:rPr>
              <a:t>(15 pts. Total – 10.5 pts. Merit)</a:t>
            </a:r>
          </a:p>
        </p:txBody>
      </p:sp>
      <p:sp>
        <p:nvSpPr>
          <p:cNvPr id="36868" name="Text Box 5"/>
          <p:cNvSpPr txBox="1">
            <a:spLocks noChangeArrowheads="1"/>
          </p:cNvSpPr>
          <p:nvPr/>
        </p:nvSpPr>
        <p:spPr bwMode="auto">
          <a:xfrm>
            <a:off x="1431925" y="22510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sp>
        <p:nvSpPr>
          <p:cNvPr id="36869" name="Text Box 6"/>
          <p:cNvSpPr txBox="1">
            <a:spLocks noChangeArrowheads="1"/>
          </p:cNvSpPr>
          <p:nvPr/>
        </p:nvSpPr>
        <p:spPr bwMode="auto">
          <a:xfrm>
            <a:off x="1216025" y="2708275"/>
            <a:ext cx="7499350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en-US" dirty="0"/>
              <a:t> Specifically aspects and parts of model built form raw materials</a:t>
            </a:r>
            <a:br>
              <a:rPr lang="en-US" dirty="0"/>
            </a:br>
            <a:r>
              <a:rPr lang="en-US" dirty="0"/>
              <a:t>  such as strip stock (wood, plastic, metal), sheet stock, (scribed</a:t>
            </a:r>
            <a:br>
              <a:rPr lang="en-US" dirty="0"/>
            </a:br>
            <a:r>
              <a:rPr lang="en-US" dirty="0"/>
              <a:t>  siding, embossed, etc.) and other forms of basic materials (</a:t>
            </a:r>
            <a:br>
              <a:rPr lang="en-US" dirty="0"/>
            </a:br>
            <a:r>
              <a:rPr lang="en-US" dirty="0"/>
              <a:t>  casting compounds, plaster, wire, etc.</a:t>
            </a:r>
          </a:p>
          <a:p>
            <a:pPr>
              <a:buFontTx/>
              <a:buChar char="•"/>
            </a:pPr>
            <a:r>
              <a:rPr lang="en-US" dirty="0"/>
              <a:t> Casting and photo etching parts is considered </a:t>
            </a:r>
            <a:r>
              <a:rPr lang="en-US" dirty="0" err="1"/>
              <a:t>scratchbuilding</a:t>
            </a:r>
            <a:endParaRPr lang="en-US" dirty="0"/>
          </a:p>
          <a:p>
            <a:pPr>
              <a:buFontTx/>
              <a:buChar char="•"/>
            </a:pPr>
            <a:r>
              <a:rPr lang="en-US" dirty="0"/>
              <a:t> Drawing plans is part of </a:t>
            </a:r>
            <a:r>
              <a:rPr lang="en-US" dirty="0" err="1"/>
              <a:t>scratchbuilding</a:t>
            </a:r>
            <a:r>
              <a:rPr lang="en-US" dirty="0"/>
              <a:t> process.</a:t>
            </a:r>
          </a:p>
          <a:p>
            <a:pPr>
              <a:buFontTx/>
              <a:buChar char="•"/>
            </a:pPr>
            <a:r>
              <a:rPr lang="en-US" dirty="0"/>
              <a:t> Complexity aspect refers to complexity of parts that are</a:t>
            </a:r>
            <a:br>
              <a:rPr lang="en-US" dirty="0"/>
            </a:br>
            <a:r>
              <a:rPr lang="en-US" dirty="0"/>
              <a:t>  </a:t>
            </a:r>
            <a:r>
              <a:rPr lang="en-US" dirty="0" err="1"/>
              <a:t>scratchbuilt</a:t>
            </a:r>
            <a:r>
              <a:rPr lang="en-US" dirty="0"/>
              <a:t>.</a:t>
            </a:r>
          </a:p>
          <a:p>
            <a:pPr>
              <a:buFontTx/>
              <a:buChar char="•"/>
            </a:pPr>
            <a:r>
              <a:rPr lang="en-US" dirty="0"/>
              <a:t> Typically trucks, couplers, motors, light bulbs, nut and bolt castings are exempted from </a:t>
            </a:r>
            <a:r>
              <a:rPr lang="en-US" dirty="0" err="1"/>
              <a:t>scratchbuilding</a:t>
            </a:r>
            <a:r>
              <a:rPr lang="en-US" dirty="0"/>
              <a:t> requirements</a:t>
            </a:r>
          </a:p>
          <a:p>
            <a:endParaRPr lang="en-US" dirty="0"/>
          </a:p>
        </p:txBody>
      </p:sp>
      <p:sp>
        <p:nvSpPr>
          <p:cNvPr id="67592" name="Rectangle 8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42418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Text Box 3"/>
          <p:cNvSpPr txBox="1">
            <a:spLocks noChangeArrowheads="1"/>
          </p:cNvSpPr>
          <p:nvPr/>
        </p:nvSpPr>
        <p:spPr bwMode="auto">
          <a:xfrm>
            <a:off x="1068388" y="752475"/>
            <a:ext cx="4602162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2"/>
                </a:solidFill>
                <a:latin typeface="Arial Black" pitchFamily="34" charset="0"/>
              </a:rPr>
              <a:t>Scratchbuilding Matrix</a:t>
            </a:r>
          </a:p>
          <a:p>
            <a:pPr>
              <a:defRPr/>
            </a:pPr>
            <a:r>
              <a:rPr lang="en-US">
                <a:solidFill>
                  <a:schemeClr val="accent2"/>
                </a:solidFill>
              </a:rPr>
              <a:t>(15 pts. Total – 10.5 pts. Merit)</a:t>
            </a:r>
          </a:p>
        </p:txBody>
      </p:sp>
      <p:sp>
        <p:nvSpPr>
          <p:cNvPr id="37891" name="Text Box 4"/>
          <p:cNvSpPr txBox="1">
            <a:spLocks noChangeArrowheads="1"/>
          </p:cNvSpPr>
          <p:nvPr/>
        </p:nvSpPr>
        <p:spPr bwMode="auto">
          <a:xfrm>
            <a:off x="1431925" y="22510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sp>
        <p:nvSpPr>
          <p:cNvPr id="68771" name="Rectangle 163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43434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  <p:sp>
        <p:nvSpPr>
          <p:cNvPr id="37893" name="Rectangle 164"/>
          <p:cNvSpPr>
            <a:spLocks noChangeArrowheads="1"/>
          </p:cNvSpPr>
          <p:nvPr/>
        </p:nvSpPr>
        <p:spPr bwMode="auto">
          <a:xfrm rot="8762160">
            <a:off x="3935413" y="4284663"/>
            <a:ext cx="5197475" cy="485775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r>
              <a:rPr lang="en-US" sz="1600" b="1"/>
              <a:t>Merit Level</a:t>
            </a:r>
          </a:p>
        </p:txBody>
      </p:sp>
      <p:pic>
        <p:nvPicPr>
          <p:cNvPr id="37894" name="Picture 15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23963" y="1860550"/>
            <a:ext cx="7389812" cy="3440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Text Box 3"/>
          <p:cNvSpPr txBox="1">
            <a:spLocks noChangeArrowheads="1"/>
          </p:cNvSpPr>
          <p:nvPr/>
        </p:nvSpPr>
        <p:spPr bwMode="auto">
          <a:xfrm>
            <a:off x="1106488" y="714375"/>
            <a:ext cx="58467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2"/>
                </a:solidFill>
                <a:latin typeface="Arial Black" pitchFamily="34" charset="0"/>
              </a:rPr>
              <a:t>Scratchbuilding Subschedule</a:t>
            </a:r>
          </a:p>
        </p:txBody>
      </p:sp>
      <p:sp>
        <p:nvSpPr>
          <p:cNvPr id="38915" name="Text Box 4"/>
          <p:cNvSpPr txBox="1">
            <a:spLocks noChangeArrowheads="1"/>
          </p:cNvSpPr>
          <p:nvPr/>
        </p:nvSpPr>
        <p:spPr bwMode="auto">
          <a:xfrm>
            <a:off x="1431925" y="22510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pic>
        <p:nvPicPr>
          <p:cNvPr id="38916" name="Picture 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35125" y="1400175"/>
            <a:ext cx="6343650" cy="4729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4763" name="Rectangle 11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43180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  <p:sp>
        <p:nvSpPr>
          <p:cNvPr id="38918" name="Rectangle 12"/>
          <p:cNvSpPr>
            <a:spLocks noChangeArrowheads="1"/>
          </p:cNvSpPr>
          <p:nvPr/>
        </p:nvSpPr>
        <p:spPr bwMode="auto">
          <a:xfrm>
            <a:off x="2642870" y="6005576"/>
            <a:ext cx="2273300" cy="4064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/>
              <a:t>Building exempted parts may result</a:t>
            </a:r>
          </a:p>
          <a:p>
            <a:pPr algn="ctr"/>
            <a:r>
              <a:rPr lang="en-US" sz="1000"/>
              <a:t> in higher construction scores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3FC79C4-3F81-4BAF-B049-6966B57028F6}"/>
              </a:ext>
            </a:extLst>
          </p:cNvPr>
          <p:cNvSpPr txBox="1"/>
          <p:nvPr/>
        </p:nvSpPr>
        <p:spPr>
          <a:xfrm>
            <a:off x="3967178" y="5722938"/>
            <a:ext cx="12096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Nut/Bolt Castings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3" descr="Timber Truss3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308100" y="4098925"/>
            <a:ext cx="7170738" cy="2349500"/>
          </a:xfrm>
          <a:noFill/>
        </p:spPr>
      </p:pic>
      <p:sp>
        <p:nvSpPr>
          <p:cNvPr id="39939" name="Text Box 5"/>
          <p:cNvSpPr txBox="1">
            <a:spLocks noChangeArrowheads="1"/>
          </p:cNvSpPr>
          <p:nvPr/>
        </p:nvSpPr>
        <p:spPr bwMode="auto">
          <a:xfrm>
            <a:off x="1431925" y="22510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sp>
        <p:nvSpPr>
          <p:cNvPr id="39940" name="Text Box 6"/>
          <p:cNvSpPr txBox="1">
            <a:spLocks noChangeArrowheads="1"/>
          </p:cNvSpPr>
          <p:nvPr/>
        </p:nvSpPr>
        <p:spPr bwMode="auto">
          <a:xfrm>
            <a:off x="1096963" y="1703388"/>
            <a:ext cx="3738562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/>
              <a:t>Howe deck truss based on an old Jack Work article (It’s for a 24” gauge mine tram), and though fairly small garnered  a 99 points!</a:t>
            </a:r>
            <a:endParaRPr lang="en-US" sz="1800" dirty="0"/>
          </a:p>
        </p:txBody>
      </p:sp>
      <p:pic>
        <p:nvPicPr>
          <p:cNvPr id="39941" name="Picture 7" descr="Timber Truss1a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902200" y="1751013"/>
            <a:ext cx="3530600" cy="2170112"/>
          </a:xfrm>
          <a:noFill/>
        </p:spPr>
      </p:pic>
      <p:sp>
        <p:nvSpPr>
          <p:cNvPr id="138249" name="Rectangle 9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43561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  <p:sp>
        <p:nvSpPr>
          <p:cNvPr id="138250" name="Text Box 10"/>
          <p:cNvSpPr txBox="1">
            <a:spLocks noChangeArrowheads="1"/>
          </p:cNvSpPr>
          <p:nvPr/>
        </p:nvSpPr>
        <p:spPr bwMode="auto">
          <a:xfrm>
            <a:off x="1100138" y="927100"/>
            <a:ext cx="49418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solidFill>
                  <a:schemeClr val="accent2"/>
                </a:solidFill>
                <a:latin typeface="Arial Black" pitchFamily="34" charset="0"/>
              </a:rPr>
              <a:t>Scratchbuilding  Examples…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ChangeArrowheads="1"/>
          </p:cNvSpPr>
          <p:nvPr/>
        </p:nvSpPr>
        <p:spPr bwMode="auto">
          <a:xfrm>
            <a:off x="1041400" y="1752600"/>
            <a:ext cx="7073900" cy="13208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4508500" cy="3302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 Contest</a:t>
            </a:r>
          </a:p>
        </p:txBody>
      </p:sp>
      <p:sp>
        <p:nvSpPr>
          <p:cNvPr id="40964" name="Text Box 5"/>
          <p:cNvSpPr txBox="1">
            <a:spLocks noChangeArrowheads="1"/>
          </p:cNvSpPr>
          <p:nvPr/>
        </p:nvSpPr>
        <p:spPr bwMode="auto">
          <a:xfrm>
            <a:off x="1431925" y="22510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sp>
        <p:nvSpPr>
          <p:cNvPr id="40965" name="Text Box 6"/>
          <p:cNvSpPr txBox="1">
            <a:spLocks noChangeArrowheads="1"/>
          </p:cNvSpPr>
          <p:nvPr/>
        </p:nvSpPr>
        <p:spPr bwMode="auto">
          <a:xfrm>
            <a:off x="1000125" y="1751013"/>
            <a:ext cx="71501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This structure was a lot more complex and was completely</a:t>
            </a:r>
          </a:p>
          <a:p>
            <a:r>
              <a:rPr lang="en-US"/>
              <a:t>scratch-built including windows, individual shingles, interior detail and lighting taking 110 pts at the Denver national in ‘91</a:t>
            </a:r>
            <a:endParaRPr lang="en-US" sz="1800"/>
          </a:p>
        </p:txBody>
      </p:sp>
      <p:grpSp>
        <p:nvGrpSpPr>
          <p:cNvPr id="40966" name="Group 7"/>
          <p:cNvGrpSpPr>
            <a:grpSpLocks/>
          </p:cNvGrpSpPr>
          <p:nvPr/>
        </p:nvGrpSpPr>
        <p:grpSpPr bwMode="auto">
          <a:xfrm>
            <a:off x="2286000" y="2819400"/>
            <a:ext cx="6172200" cy="3673475"/>
            <a:chOff x="1056" y="1768"/>
            <a:chExt cx="3888" cy="2314"/>
          </a:xfrm>
        </p:grpSpPr>
        <p:pic>
          <p:nvPicPr>
            <p:cNvPr id="40968" name="Picture 8" descr="Coal Pocket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056" y="1768"/>
              <a:ext cx="3888" cy="23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40969" name="Text Box 9"/>
            <p:cNvSpPr txBox="1">
              <a:spLocks noChangeArrowheads="1"/>
            </p:cNvSpPr>
            <p:nvPr/>
          </p:nvSpPr>
          <p:spPr bwMode="auto">
            <a:xfrm>
              <a:off x="1158" y="3855"/>
              <a:ext cx="3738" cy="198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Burnett Clifton Coal Pocket Typical of the D&amp;RGW &amp; unavailable as a kit </a:t>
              </a:r>
            </a:p>
          </p:txBody>
        </p:sp>
      </p:grpSp>
      <p:sp>
        <p:nvSpPr>
          <p:cNvPr id="140298" name="Text Box 10"/>
          <p:cNvSpPr txBox="1">
            <a:spLocks noChangeArrowheads="1"/>
          </p:cNvSpPr>
          <p:nvPr/>
        </p:nvSpPr>
        <p:spPr bwMode="auto">
          <a:xfrm>
            <a:off x="1100138" y="863600"/>
            <a:ext cx="49418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solidFill>
                  <a:schemeClr val="accent2"/>
                </a:solidFill>
                <a:latin typeface="Arial Black" pitchFamily="34" charset="0"/>
              </a:rPr>
              <a:t>Scratchbuilding  Examples…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7" name="Text Box 3"/>
          <p:cNvSpPr txBox="1">
            <a:spLocks noChangeArrowheads="1"/>
          </p:cNvSpPr>
          <p:nvPr/>
        </p:nvSpPr>
        <p:spPr bwMode="auto">
          <a:xfrm>
            <a:off x="908050" y="701675"/>
            <a:ext cx="7856538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chemeClr val="accent2"/>
                </a:solidFill>
                <a:latin typeface="Arial Black" pitchFamily="34" charset="0"/>
              </a:rPr>
              <a:t>The Matrices all look very subjective. How do</a:t>
            </a:r>
          </a:p>
          <a:p>
            <a:pPr algn="ctr">
              <a:defRPr/>
            </a:pPr>
            <a:r>
              <a:rPr lang="en-US" sz="2400" dirty="0">
                <a:solidFill>
                  <a:schemeClr val="accent2"/>
                </a:solidFill>
                <a:latin typeface="Arial Black" pitchFamily="34" charset="0"/>
              </a:rPr>
              <a:t> you achieve consistent &amp; uniform scores?</a:t>
            </a:r>
          </a:p>
        </p:txBody>
      </p:sp>
      <p:sp>
        <p:nvSpPr>
          <p:cNvPr id="144388" name="Rectangle 4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44958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  <p:sp>
        <p:nvSpPr>
          <p:cNvPr id="41988" name="Text Box 5"/>
          <p:cNvSpPr txBox="1">
            <a:spLocks noChangeArrowheads="1"/>
          </p:cNvSpPr>
          <p:nvPr/>
        </p:nvSpPr>
        <p:spPr bwMode="auto">
          <a:xfrm>
            <a:off x="1138238" y="1662113"/>
            <a:ext cx="7650162" cy="4170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It is difficult. Some think we add up points or subtract points. Neither! Because the value of a point cannot established.</a:t>
            </a:r>
          </a:p>
          <a:p>
            <a:pPr>
              <a:spcAft>
                <a:spcPts val="600"/>
              </a:spcAft>
            </a:pPr>
            <a:r>
              <a:rPr lang="en-US" b="1" dirty="0"/>
              <a:t>The answer is CALIBRATION! We calibrate around the Merit Level score, 87.5 pts. This the most important scoring range and why I show the green merit level lines on the matrices.</a:t>
            </a:r>
          </a:p>
          <a:p>
            <a:pPr>
              <a:spcAft>
                <a:spcPts val="600"/>
              </a:spcAft>
            </a:pPr>
            <a:endParaRPr lang="en-US" b="1" dirty="0"/>
          </a:p>
          <a:p>
            <a:pPr>
              <a:spcAft>
                <a:spcPts val="600"/>
              </a:spcAft>
            </a:pPr>
            <a:r>
              <a:rPr lang="en-US" b="1" dirty="0"/>
              <a:t>To become calibrated takes experience achieved by working with experienced judges in contest and/or at-home judging.</a:t>
            </a:r>
          </a:p>
          <a:p>
            <a:pPr>
              <a:spcAft>
                <a:spcPts val="600"/>
              </a:spcAft>
            </a:pPr>
            <a:r>
              <a:rPr lang="en-US" b="1" dirty="0"/>
              <a:t>This is the primary job of the Team Leader: to teach, to guide, to show, to CALIBRATE newer judges, so merit level models are properly rewarded. </a:t>
            </a:r>
          </a:p>
          <a:p>
            <a:pPr>
              <a:spcAft>
                <a:spcPts val="600"/>
              </a:spcAft>
            </a:pPr>
            <a:endParaRPr lang="en-US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tebook">
  <a:themeElements>
    <a:clrScheme name="Notebook 1">
      <a:dk1>
        <a:srgbClr val="000000"/>
      </a:dk1>
      <a:lt1>
        <a:srgbClr val="FEFDE3"/>
      </a:lt1>
      <a:dk2>
        <a:srgbClr val="221304"/>
      </a:dk2>
      <a:lt2>
        <a:srgbClr val="CBBD83"/>
      </a:lt2>
      <a:accent1>
        <a:srgbClr val="A1BD69"/>
      </a:accent1>
      <a:accent2>
        <a:srgbClr val="3694B6"/>
      </a:accent2>
      <a:accent3>
        <a:srgbClr val="FEFEEF"/>
      </a:accent3>
      <a:accent4>
        <a:srgbClr val="000000"/>
      </a:accent4>
      <a:accent5>
        <a:srgbClr val="CDDBB9"/>
      </a:accent5>
      <a:accent6>
        <a:srgbClr val="3086A5"/>
      </a:accent6>
      <a:hlink>
        <a:srgbClr val="660066"/>
      </a:hlink>
      <a:folHlink>
        <a:srgbClr val="666699"/>
      </a:folHlink>
    </a:clrScheme>
    <a:fontScheme name="Notebook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otebook 1">
        <a:dk1>
          <a:srgbClr val="000000"/>
        </a:dk1>
        <a:lt1>
          <a:srgbClr val="FEFDE3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EFEE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tebook 2">
        <a:dk1>
          <a:srgbClr val="000000"/>
        </a:dk1>
        <a:lt1>
          <a:srgbClr val="FFFFFF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FFFF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tebook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Designs\Notebook.pot</Template>
  <TotalTime>4451</TotalTime>
  <Words>714</Words>
  <Application>Microsoft Office PowerPoint</Application>
  <PresentationFormat>On-screen Show (4:3)</PresentationFormat>
  <Paragraphs>207</Paragraphs>
  <Slides>20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Notebook</vt:lpstr>
      <vt:lpstr>Photo Editor Photo</vt:lpstr>
      <vt:lpstr>Judging National Model Contest</vt:lpstr>
      <vt:lpstr>Judging National Model Contest</vt:lpstr>
      <vt:lpstr>Judging National Model Contest</vt:lpstr>
      <vt:lpstr>Judging National Model Contest</vt:lpstr>
      <vt:lpstr>Judging National Model Contest</vt:lpstr>
      <vt:lpstr>Judging National Model Contest</vt:lpstr>
      <vt:lpstr>Judging National Model Contest</vt:lpstr>
      <vt:lpstr>Judging National Model Contest</vt:lpstr>
      <vt:lpstr>Judging National Model Contest</vt:lpstr>
      <vt:lpstr>Judging National Model Contest</vt:lpstr>
      <vt:lpstr>Judging National Model Contest</vt:lpstr>
      <vt:lpstr>Judging National Model Contest</vt:lpstr>
      <vt:lpstr>Judging National Model Contest</vt:lpstr>
      <vt:lpstr>Judging National Model Contest</vt:lpstr>
      <vt:lpstr>Judging National Model Contest</vt:lpstr>
      <vt:lpstr>Judging National Model Contest</vt:lpstr>
      <vt:lpstr>Judging National Model Contest</vt:lpstr>
      <vt:lpstr>Judging National Model Contest</vt:lpstr>
      <vt:lpstr>Judging National Model  Contest</vt:lpstr>
      <vt:lpstr>Judging National Model Contest</vt:lpstr>
    </vt:vector>
  </TitlesOfParts>
  <Company>Plug Power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 WITH FORMS</dc:title>
  <dc:creator>RHamm</dc:creator>
  <cp:lastModifiedBy>Ackmann Family</cp:lastModifiedBy>
  <cp:revision>142</cp:revision>
  <cp:lastPrinted>2023-03-21T17:22:57Z</cp:lastPrinted>
  <dcterms:created xsi:type="dcterms:W3CDTF">2005-05-10T16:13:09Z</dcterms:created>
  <dcterms:modified xsi:type="dcterms:W3CDTF">2026-05-18T19:52:52Z</dcterms:modified>
</cp:coreProperties>
</file>