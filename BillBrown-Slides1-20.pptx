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2"/>
  </p:notesMasterIdLst>
  <p:handoutMasterIdLst>
    <p:handoutMasterId r:id="rId23"/>
  </p:handoutMasterIdLst>
  <p:sldIdLst>
    <p:sldId id="257" r:id="rId2"/>
    <p:sldId id="256" r:id="rId3"/>
    <p:sldId id="347" r:id="rId4"/>
    <p:sldId id="261" r:id="rId5"/>
    <p:sldId id="263" r:id="rId6"/>
    <p:sldId id="308" r:id="rId7"/>
    <p:sldId id="309" r:id="rId8"/>
    <p:sldId id="262" r:id="rId9"/>
    <p:sldId id="264" r:id="rId10"/>
    <p:sldId id="326" r:id="rId11"/>
    <p:sldId id="316" r:id="rId12"/>
    <p:sldId id="320" r:id="rId13"/>
    <p:sldId id="327" r:id="rId14"/>
    <p:sldId id="266" r:id="rId15"/>
    <p:sldId id="267" r:id="rId16"/>
    <p:sldId id="268" r:id="rId17"/>
    <p:sldId id="270" r:id="rId18"/>
    <p:sldId id="275" r:id="rId19"/>
    <p:sldId id="302" r:id="rId20"/>
    <p:sldId id="307" r:id="rId21"/>
  </p:sldIdLst>
  <p:sldSz cx="9144000" cy="6858000" type="screen4x3"/>
  <p:notesSz cx="7102475" cy="93884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966">
          <p15:clr>
            <a:srgbClr val="A4A3A4"/>
          </p15:clr>
        </p15:guide>
        <p15:guide id="2" pos="224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AEA"/>
    <a:srgbClr val="00FF00"/>
    <a:srgbClr val="C0C0C0"/>
    <a:srgbClr val="00CC99"/>
    <a:srgbClr val="00CC66"/>
    <a:srgbClr val="FF33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6" autoAdjust="0"/>
    <p:restoredTop sz="94718" autoAdjust="0"/>
  </p:normalViewPr>
  <p:slideViewPr>
    <p:cSldViewPr snapToGrid="0">
      <p:cViewPr varScale="1">
        <p:scale>
          <a:sx n="64" d="100"/>
          <a:sy n="64" d="100"/>
        </p:scale>
        <p:origin x="-1488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9" d="100"/>
          <a:sy n="59" d="100"/>
        </p:scale>
        <p:origin x="-1692" y="-72"/>
      </p:cViewPr>
      <p:guideLst>
        <p:guide orient="horz" pos="2957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1.xml"/><Relationship Id="rId13" Type="http://schemas.openxmlformats.org/officeDocument/2006/relationships/slide" Target="slides/slide16.xml"/><Relationship Id="rId3" Type="http://schemas.openxmlformats.org/officeDocument/2006/relationships/slide" Target="slides/slide6.xml"/><Relationship Id="rId7" Type="http://schemas.openxmlformats.org/officeDocument/2006/relationships/slide" Target="slides/slide10.xml"/><Relationship Id="rId12" Type="http://schemas.openxmlformats.org/officeDocument/2006/relationships/slide" Target="slides/slide15.xml"/><Relationship Id="rId17" Type="http://schemas.openxmlformats.org/officeDocument/2006/relationships/slide" Target="slides/slide20.xml"/><Relationship Id="rId2" Type="http://schemas.openxmlformats.org/officeDocument/2006/relationships/slide" Target="slides/slide5.xml"/><Relationship Id="rId16" Type="http://schemas.openxmlformats.org/officeDocument/2006/relationships/slide" Target="slides/slide19.xml"/><Relationship Id="rId1" Type="http://schemas.openxmlformats.org/officeDocument/2006/relationships/slide" Target="slides/slide4.xml"/><Relationship Id="rId6" Type="http://schemas.openxmlformats.org/officeDocument/2006/relationships/slide" Target="slides/slide9.xml"/><Relationship Id="rId11" Type="http://schemas.openxmlformats.org/officeDocument/2006/relationships/slide" Target="slides/slide14.xml"/><Relationship Id="rId5" Type="http://schemas.openxmlformats.org/officeDocument/2006/relationships/slide" Target="slides/slide8.xml"/><Relationship Id="rId15" Type="http://schemas.openxmlformats.org/officeDocument/2006/relationships/slide" Target="slides/slide18.xml"/><Relationship Id="rId10" Type="http://schemas.openxmlformats.org/officeDocument/2006/relationships/slide" Target="slides/slide13.xml"/><Relationship Id="rId4" Type="http://schemas.openxmlformats.org/officeDocument/2006/relationships/slide" Target="slides/slide7.xml"/><Relationship Id="rId9" Type="http://schemas.openxmlformats.org/officeDocument/2006/relationships/slide" Target="slides/slide12.xml"/><Relationship Id="rId14" Type="http://schemas.openxmlformats.org/officeDocument/2006/relationships/slide" Target="slides/slide1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77792" cy="46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6" tIns="47113" rIns="94226" bIns="47113" numCol="1" anchor="t" anchorCtr="0" compatLnSpc="1">
            <a:prstTxWarp prst="textNoShape">
              <a:avLst/>
            </a:prstTxWarp>
          </a:bodyPr>
          <a:lstStyle>
            <a:lvl1pPr defTabSz="942649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683" y="0"/>
            <a:ext cx="3077792" cy="46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6" tIns="47113" rIns="94226" bIns="47113" numCol="1" anchor="t" anchorCtr="0" compatLnSpc="1">
            <a:prstTxWarp prst="textNoShape">
              <a:avLst/>
            </a:prstTxWarp>
          </a:bodyPr>
          <a:lstStyle>
            <a:lvl1pPr algn="r" defTabSz="942649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918497"/>
            <a:ext cx="3077792" cy="46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6" tIns="47113" rIns="94226" bIns="47113" numCol="1" anchor="b" anchorCtr="0" compatLnSpc="1">
            <a:prstTxWarp prst="textNoShape">
              <a:avLst/>
            </a:prstTxWarp>
          </a:bodyPr>
          <a:lstStyle>
            <a:lvl1pPr defTabSz="942649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683" y="8918497"/>
            <a:ext cx="3077792" cy="46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6" tIns="47113" rIns="94226" bIns="47113" numCol="1" anchor="b" anchorCtr="0" compatLnSpc="1">
            <a:prstTxWarp prst="textNoShape">
              <a:avLst/>
            </a:prstTxWarp>
          </a:bodyPr>
          <a:lstStyle>
            <a:lvl1pPr algn="r" defTabSz="942649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35BE597C-1D20-4153-BB5C-80B18BE382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77792" cy="46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02" tIns="45551" rIns="91102" bIns="4555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3103" y="0"/>
            <a:ext cx="3077791" cy="46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02" tIns="45551" rIns="91102" bIns="4555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4913" y="704850"/>
            <a:ext cx="4692650" cy="35194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16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774" y="4459249"/>
            <a:ext cx="5682928" cy="4225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02" tIns="45551" rIns="91102" bIns="4555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16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916916"/>
            <a:ext cx="3077792" cy="469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02" tIns="45551" rIns="91102" bIns="4555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16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3103" y="8916916"/>
            <a:ext cx="3077791" cy="469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02" tIns="45551" rIns="91102" bIns="4555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8B401836-FD79-47B0-BEFC-32954B1DFC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8666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4E118B8-29DE-43E8-BC57-0B6A4C0E30CC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6" descr="Canvas"/>
          <p:cNvSpPr>
            <a:spLocks noChangeArrowheads="1"/>
          </p:cNvSpPr>
          <p:nvPr/>
        </p:nvSpPr>
        <p:spPr bwMode="white">
          <a:xfrm>
            <a:off x="528638" y="201613"/>
            <a:ext cx="8397875" cy="6467475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imes New Roman" pitchFamily="18" charset="0"/>
            </a:endParaRPr>
          </a:p>
        </p:txBody>
      </p:sp>
      <p:pic>
        <p:nvPicPr>
          <p:cNvPr id="5" name="Picture 1027" descr="minispi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ltGray">
          <a:xfrm>
            <a:off x="0" y="50800"/>
            <a:ext cx="1181100" cy="428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1028" descr="Canvas"/>
          <p:cNvSpPr>
            <a:spLocks noChangeArrowheads="1"/>
          </p:cNvSpPr>
          <p:nvPr/>
        </p:nvSpPr>
        <p:spPr bwMode="white">
          <a:xfrm>
            <a:off x="596900" y="4130675"/>
            <a:ext cx="10414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imes New Roman" pitchFamily="18" charset="0"/>
            </a:endParaRPr>
          </a:p>
        </p:txBody>
      </p:sp>
      <p:pic>
        <p:nvPicPr>
          <p:cNvPr id="7" name="Picture 1029" descr="minispir"/>
          <p:cNvPicPr>
            <a:picLocks noChangeAspect="1" noChangeArrowheads="1"/>
          </p:cNvPicPr>
          <p:nvPr/>
        </p:nvPicPr>
        <p:blipFill>
          <a:blip r:embed="rId3" cstate="print"/>
          <a:srcRect t="39999"/>
          <a:stretch>
            <a:fillRect/>
          </a:stretch>
        </p:blipFill>
        <p:spPr bwMode="ltGray">
          <a:xfrm>
            <a:off x="0" y="4222750"/>
            <a:ext cx="1181100" cy="257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2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914400" y="2057400"/>
            <a:ext cx="7721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103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625600" y="3886200"/>
            <a:ext cx="6400800" cy="177165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Rectangle 1032"/>
          <p:cNvSpPr>
            <a:spLocks noGrp="1" noChangeArrowheads="1"/>
          </p:cNvSpPr>
          <p:nvPr>
            <p:ph type="dt" sz="quarter" idx="10"/>
          </p:nvPr>
        </p:nvSpPr>
        <p:spPr>
          <a:xfrm>
            <a:off x="1084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033"/>
          <p:cNvSpPr>
            <a:spLocks noGrp="1" noChangeArrowheads="1"/>
          </p:cNvSpPr>
          <p:nvPr>
            <p:ph type="ftr" sz="quarter" idx="11"/>
          </p:nvPr>
        </p:nvSpPr>
        <p:spPr>
          <a:xfrm>
            <a:off x="3522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Rectangle 103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951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527C49-D8F9-4E4B-8859-E1DA4A18A2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6068E2-703E-42A4-8322-7D71B2A65B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7934C1-8A31-4581-98EF-7D9FC5A4E7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752600"/>
            <a:ext cx="37338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752600"/>
            <a:ext cx="37338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C20386-058A-44DC-A0FE-443CC00B92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7505AB-EDA8-40F8-8602-919494B33F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63EB51-2AEF-44B4-9C68-19841BE470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326078-AC41-435F-BF16-3FC49F9720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04451D-F781-4D43-956B-F56F0F283F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E9E475-36B2-4CFC-B579-F37FA33C27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6AE900-00B6-4333-B5BD-6390C495C5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381000"/>
            <a:ext cx="55626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3C06F9-87FD-4240-8C8F-CCB9437128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81000"/>
            <a:ext cx="7620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066800" y="1752600"/>
            <a:ext cx="37338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953000" y="1752600"/>
            <a:ext cx="37338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953000" y="3886200"/>
            <a:ext cx="37338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721577-131C-4AF4-A4E8-89474FB0AA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81000"/>
            <a:ext cx="7620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066800" y="1752600"/>
            <a:ext cx="37338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752600"/>
            <a:ext cx="37338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78991C-25F3-4B39-9E6E-24B4FAF817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1066800" y="381000"/>
            <a:ext cx="7620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66800" y="1752600"/>
            <a:ext cx="37338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953000" y="1752600"/>
            <a:ext cx="37338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1066800" y="3886200"/>
            <a:ext cx="37338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3000" y="3886200"/>
            <a:ext cx="37338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F5664A-738D-43B3-BB88-A28FB78B5A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81000"/>
            <a:ext cx="7620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752600"/>
            <a:ext cx="37338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953000" y="1752600"/>
            <a:ext cx="37338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953000" y="3886200"/>
            <a:ext cx="37338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310FFA-EFDC-441B-A7F6-2A39F92A26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rgbClr val="906D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ltGray">
          <a:xfrm>
            <a:off x="609600" y="228600"/>
            <a:ext cx="8239125" cy="6391275"/>
          </a:xfrm>
          <a:prstGeom prst="rect">
            <a:avLst/>
          </a:prstGeom>
          <a:solidFill>
            <a:srgbClr val="EDE7E3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imes New Roman" pitchFamily="18" charset="0"/>
            </a:endParaRPr>
          </a:p>
        </p:txBody>
      </p:sp>
      <p:sp>
        <p:nvSpPr>
          <p:cNvPr id="3075" name="Line 3"/>
          <p:cNvSpPr>
            <a:spLocks noChangeShapeType="1"/>
          </p:cNvSpPr>
          <p:nvPr/>
        </p:nvSpPr>
        <p:spPr bwMode="ltGray">
          <a:xfrm>
            <a:off x="1016000" y="1600200"/>
            <a:ext cx="7670800" cy="0"/>
          </a:xfrm>
          <a:prstGeom prst="line">
            <a:avLst/>
          </a:prstGeom>
          <a:noFill/>
          <a:ln w="317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6148" name="Picture 4" descr="minispir"/>
          <p:cNvPicPr>
            <a:picLocks noChangeAspect="1" noChangeArrowheads="1"/>
          </p:cNvPicPr>
          <p:nvPr/>
        </p:nvPicPr>
        <p:blipFill>
          <a:blip r:embed="rId17" cstate="print"/>
          <a:srcRect b="5333"/>
          <a:stretch>
            <a:fillRect/>
          </a:stretch>
        </p:blipFill>
        <p:spPr bwMode="ltGray">
          <a:xfrm>
            <a:off x="0" y="50800"/>
            <a:ext cx="1181100" cy="405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9" name="Picture 5" descr="minispir"/>
          <p:cNvPicPr>
            <a:picLocks noChangeAspect="1" noChangeArrowheads="1"/>
          </p:cNvPicPr>
          <p:nvPr/>
        </p:nvPicPr>
        <p:blipFill>
          <a:blip r:embed="rId17" cstate="print"/>
          <a:srcRect t="39999"/>
          <a:stretch>
            <a:fillRect/>
          </a:stretch>
        </p:blipFill>
        <p:spPr bwMode="ltGray">
          <a:xfrm>
            <a:off x="0" y="4222750"/>
            <a:ext cx="1181100" cy="257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5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381000"/>
            <a:ext cx="7620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0" y="1752600"/>
            <a:ext cx="76200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80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14413" y="610711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2813" y="6107113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81813" y="610711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pPr>
              <a:defRPr/>
            </a:pPr>
            <a:fld id="{2218D46A-AF04-424D-B043-89217904EA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jp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3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92200" y="1219200"/>
            <a:ext cx="7721600" cy="2209800"/>
          </a:xfrm>
        </p:spPr>
        <p:txBody>
          <a:bodyPr/>
          <a:lstStyle/>
          <a:p>
            <a:pPr eaLnBrk="1" hangingPunct="1"/>
            <a:r>
              <a:rPr lang="en-US" sz="3600" u="sng" dirty="0">
                <a:latin typeface="Arial Black" pitchFamily="34" charset="0"/>
              </a:rPr>
              <a:t>Judging</a:t>
            </a:r>
            <a:br>
              <a:rPr lang="en-US" sz="3600" u="sng" dirty="0">
                <a:latin typeface="Arial Black" pitchFamily="34" charset="0"/>
              </a:rPr>
            </a:br>
            <a:r>
              <a:rPr lang="en-US" sz="2000" dirty="0">
                <a:latin typeface="Arial Black" pitchFamily="34" charset="0"/>
              </a:rPr>
              <a:t>the</a:t>
            </a:r>
            <a:r>
              <a:rPr lang="en-US" sz="3600" u="sng" dirty="0">
                <a:latin typeface="Arial Black" pitchFamily="34" charset="0"/>
              </a:rPr>
              <a:t/>
            </a:r>
            <a:br>
              <a:rPr lang="en-US" sz="3600" u="sng" dirty="0">
                <a:latin typeface="Arial Black" pitchFamily="34" charset="0"/>
              </a:rPr>
            </a:br>
            <a:r>
              <a:rPr lang="en-US" sz="3600" u="sng" dirty="0">
                <a:latin typeface="Arial Black" pitchFamily="34" charset="0"/>
              </a:rPr>
              <a:t>National Model Contest</a:t>
            </a:r>
            <a:br>
              <a:rPr lang="en-US" sz="3600" u="sng" dirty="0">
                <a:latin typeface="Arial Black" pitchFamily="34" charset="0"/>
              </a:rPr>
            </a:br>
            <a:endParaRPr lang="en-US" sz="2400" b="1" i="1" dirty="0">
              <a:latin typeface="Arial Black" pitchFamily="34" charset="0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52600" y="3279648"/>
            <a:ext cx="6400800" cy="1219200"/>
          </a:xfrm>
        </p:spPr>
        <p:txBody>
          <a:bodyPr/>
          <a:lstStyle/>
          <a:p>
            <a:pPr eaLnBrk="1" hangingPunct="1"/>
            <a:r>
              <a:rPr lang="en-US" sz="2000" dirty="0">
                <a:latin typeface="Arial" charset="0"/>
              </a:rPr>
              <a:t>by</a:t>
            </a:r>
          </a:p>
          <a:p>
            <a:pPr eaLnBrk="1" hangingPunct="1"/>
            <a:r>
              <a:rPr lang="en-US" sz="2000" dirty="0">
                <a:latin typeface="Arial" charset="0"/>
              </a:rPr>
              <a:t>Bill Brown , MMR</a:t>
            </a:r>
          </a:p>
          <a:p>
            <a:pPr eaLnBrk="1" hangingPunct="1"/>
            <a:r>
              <a:rPr lang="en-US" sz="2000" dirty="0">
                <a:latin typeface="Arial" charset="0"/>
              </a:rPr>
              <a:t>NMRA National Model Contest chairman</a:t>
            </a:r>
          </a:p>
          <a:p>
            <a:pPr eaLnBrk="1" hangingPunct="1"/>
            <a:endParaRPr lang="en-US" sz="2000" dirty="0">
              <a:latin typeface="Arial" charset="0"/>
            </a:endParaRPr>
          </a:p>
          <a:p>
            <a:pPr eaLnBrk="1" hangingPunct="1"/>
            <a:r>
              <a:rPr lang="en-US" sz="2000" dirty="0">
                <a:latin typeface="Arial" charset="0"/>
              </a:rPr>
              <a:t>Jim </a:t>
            </a:r>
            <a:r>
              <a:rPr lang="en-US" sz="2000" dirty="0" err="1">
                <a:latin typeface="Arial" charset="0"/>
              </a:rPr>
              <a:t>Zinser</a:t>
            </a:r>
            <a:r>
              <a:rPr lang="en-US" sz="2000" dirty="0">
                <a:latin typeface="Arial" charset="0"/>
              </a:rPr>
              <a:t>, MMR</a:t>
            </a:r>
          </a:p>
          <a:p>
            <a:pPr eaLnBrk="1" hangingPunct="1"/>
            <a:r>
              <a:rPr lang="en-US" sz="2000" dirty="0">
                <a:latin typeface="Arial" charset="0"/>
              </a:rPr>
              <a:t>Coordinator of Judges/Judging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5105400" cy="3683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1800" i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Judging National Model Contest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04900" y="1701800"/>
            <a:ext cx="4051300" cy="22225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000">
                <a:latin typeface="Arial Black" pitchFamily="34" charset="0"/>
              </a:rPr>
              <a:t>It’s a lot of fun.</a:t>
            </a:r>
          </a:p>
          <a:p>
            <a:pPr eaLnBrk="1" hangingPunct="1">
              <a:lnSpc>
                <a:spcPct val="80000"/>
              </a:lnSpc>
            </a:pPr>
            <a:r>
              <a:rPr lang="en-US" sz="2000">
                <a:latin typeface="Arial Black" pitchFamily="34" charset="0"/>
              </a:rPr>
              <a:t>Great way to improve your modeling skills, even better than entering.</a:t>
            </a:r>
          </a:p>
          <a:p>
            <a:pPr eaLnBrk="1" hangingPunct="1">
              <a:lnSpc>
                <a:spcPct val="80000"/>
              </a:lnSpc>
            </a:pPr>
            <a:r>
              <a:rPr lang="en-US" sz="2000">
                <a:latin typeface="Arial Black" pitchFamily="34" charset="0"/>
              </a:rPr>
              <a:t>Opportunity to earn</a:t>
            </a:r>
            <a:br>
              <a:rPr lang="en-US" sz="2000">
                <a:latin typeface="Arial Black" pitchFamily="34" charset="0"/>
              </a:rPr>
            </a:br>
            <a:r>
              <a:rPr lang="en-US" sz="2000">
                <a:latin typeface="Arial Black" pitchFamily="34" charset="0"/>
              </a:rPr>
              <a:t>AP points toward Association volunteer.</a:t>
            </a:r>
          </a:p>
        </p:txBody>
      </p:sp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1155700" y="809625"/>
            <a:ext cx="7245350" cy="884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chemeClr val="accent2"/>
                </a:solidFill>
                <a:latin typeface="Arial Black" pitchFamily="34" charset="0"/>
              </a:rPr>
              <a:t>WHY WOULD ANYONE IN HIS RIGHT MIND</a:t>
            </a:r>
          </a:p>
          <a:p>
            <a:pPr algn="ctr">
              <a:defRPr/>
            </a:pPr>
            <a:r>
              <a:rPr lang="en-US" sz="2400" dirty="0">
                <a:solidFill>
                  <a:schemeClr val="accent2"/>
                </a:solidFill>
                <a:latin typeface="Arial Black" pitchFamily="34" charset="0"/>
              </a:rPr>
              <a:t>WANT TO JUDGE THE MODEL CONTEST</a:t>
            </a:r>
            <a:r>
              <a:rPr lang="en-US" sz="2800" dirty="0">
                <a:solidFill>
                  <a:schemeClr val="accent2"/>
                </a:solidFill>
                <a:latin typeface="Arial Black" pitchFamily="34" charset="0"/>
              </a:rPr>
              <a:t>?</a:t>
            </a:r>
            <a:endParaRPr lang="en-US" sz="2400" dirty="0">
              <a:solidFill>
                <a:schemeClr val="accent2"/>
              </a:solidFill>
              <a:latin typeface="Arial Black" pitchFamily="34" charset="0"/>
            </a:endParaRPr>
          </a:p>
        </p:txBody>
      </p:sp>
      <p:pic>
        <p:nvPicPr>
          <p:cNvPr id="9221" name="Picture 11" descr="judgi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62100" y="4065588"/>
            <a:ext cx="3517900" cy="2297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2" name="Picture 14" descr="judging3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5334000" y="1689100"/>
            <a:ext cx="3236913" cy="2338388"/>
          </a:xfrm>
          <a:noFill/>
        </p:spPr>
      </p:pic>
      <p:pic>
        <p:nvPicPr>
          <p:cNvPr id="9223" name="Picture 7" descr="Award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5302250" y="4127500"/>
            <a:ext cx="3251200" cy="2235200"/>
          </a:xfr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5105400" cy="3683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1800" i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Judging National Model Contest</a:t>
            </a:r>
          </a:p>
        </p:txBody>
      </p:sp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2299463" y="809625"/>
            <a:ext cx="495783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chemeClr val="accent2"/>
                </a:solidFill>
                <a:latin typeface="Arial Black" pitchFamily="34" charset="0"/>
              </a:rPr>
              <a:t>Your Celebration Room Staff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C052025-B288-4ED5-A238-39F87ADAB218}"/>
              </a:ext>
            </a:extLst>
          </p:cNvPr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="" xmlns:a16="http://schemas.microsoft.com/office/drawing/2014/main" id="{063AB672-2024-465C-805C-3483C3E27DE4}"/>
              </a:ext>
            </a:extLst>
          </p:cNvPr>
          <p:cNvPicPr>
            <a:picLocks noGrp="1" noChangeAspect="1"/>
          </p:cNvPicPr>
          <p:nvPr>
            <p:ph sz="quarter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628" y="1432090"/>
            <a:ext cx="1257181" cy="1684999"/>
          </a:xfrm>
        </p:spPr>
      </p:pic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468F209F-1077-4171-8FFF-1E0B5902FE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1353" y="1309981"/>
            <a:ext cx="1292100" cy="17503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="" xmlns:a16="http://schemas.microsoft.com/office/drawing/2014/main" id="{6D5DB40F-AD6D-4F42-8DD5-FBD8D1CF030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917" y="3724920"/>
            <a:ext cx="1682927" cy="192334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="" xmlns:a16="http://schemas.microsoft.com/office/drawing/2014/main" id="{07E5A878-63E2-4400-A526-B4703974CF6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775" y="3724920"/>
            <a:ext cx="1628823" cy="197863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="" xmlns:a16="http://schemas.microsoft.com/office/drawing/2014/main" id="{A8C9D146-4E7D-46AF-80C7-CDA97EA4DF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182" y="3765349"/>
            <a:ext cx="1807391" cy="202913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F5C43E58-9381-4BDC-AE30-F2268CC8B19C}"/>
              </a:ext>
            </a:extLst>
          </p:cNvPr>
          <p:cNvSpPr txBox="1"/>
          <p:nvPr/>
        </p:nvSpPr>
        <p:spPr>
          <a:xfrm>
            <a:off x="1041531" y="3071835"/>
            <a:ext cx="747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Bill Brown, MMR   Jim </a:t>
            </a:r>
            <a:r>
              <a:rPr lang="en-US" sz="1800" dirty="0" err="1"/>
              <a:t>Zinser</a:t>
            </a:r>
            <a:r>
              <a:rPr lang="en-US" sz="1800" dirty="0"/>
              <a:t>, MMR   Tom Oxnard, MMR   Carl </a:t>
            </a:r>
            <a:r>
              <a:rPr lang="en-US" sz="1800" dirty="0" err="1"/>
              <a:t>Smeigh</a:t>
            </a:r>
            <a:endParaRPr lang="en-US" sz="1800" dirty="0"/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8A03358E-6AF2-4438-B36A-76195240EA7D}"/>
              </a:ext>
            </a:extLst>
          </p:cNvPr>
          <p:cNvSpPr txBox="1"/>
          <p:nvPr/>
        </p:nvSpPr>
        <p:spPr>
          <a:xfrm>
            <a:off x="1041531" y="5760694"/>
            <a:ext cx="7517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Bob </a:t>
            </a:r>
            <a:r>
              <a:rPr lang="en-US" dirty="0" err="1"/>
              <a:t>Verkuyl</a:t>
            </a:r>
            <a:r>
              <a:rPr lang="en-US" dirty="0"/>
              <a:t>                      Ken May                      Paul Voelker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="" xmlns:a16="http://schemas.microsoft.com/office/drawing/2014/main" id="{6B84E9E7-3CB2-75FA-03CC-B58AFE51C3C9}"/>
              </a:ext>
            </a:extLst>
          </p:cNvPr>
          <p:cNvPicPr>
            <a:picLocks noGrp="1" noChangeAspect="1"/>
          </p:cNvPicPr>
          <p:nvPr>
            <p:ph sz="quarter" idx="3"/>
          </p:nvPr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3" t="9903" r="6655" b="5727"/>
          <a:stretch/>
        </p:blipFill>
        <p:spPr>
          <a:xfrm>
            <a:off x="3105509" y="1363576"/>
            <a:ext cx="1466491" cy="1702676"/>
          </a:xfrm>
        </p:spPr>
      </p:pic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13963D67-E84D-DFBC-2677-78E117C1960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700" y="1391970"/>
            <a:ext cx="1386408" cy="1725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654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1579038" y="990600"/>
            <a:ext cx="54938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chemeClr val="accent2"/>
                </a:solidFill>
                <a:latin typeface="Arial Black" pitchFamily="34" charset="0"/>
              </a:rPr>
              <a:t>Celebration Room Timeline</a:t>
            </a:r>
          </a:p>
        </p:txBody>
      </p:sp>
      <p:sp>
        <p:nvSpPr>
          <p:cNvPr id="26634" name="Rectangle 10"/>
          <p:cNvSpPr>
            <a:spLocks noChangeArrowheads="1"/>
          </p:cNvSpPr>
          <p:nvPr/>
        </p:nvSpPr>
        <p:spPr bwMode="auto">
          <a:xfrm>
            <a:off x="1066800" y="381000"/>
            <a:ext cx="49911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r>
              <a:rPr lang="en-US" sz="1800" i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Judging National Model Contest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66DA8FB-84C9-4A36-B357-313CF565797E}"/>
              </a:ext>
            </a:extLst>
          </p:cNvPr>
          <p:cNvSpPr txBox="1"/>
          <p:nvPr/>
        </p:nvSpPr>
        <p:spPr>
          <a:xfrm>
            <a:off x="978408" y="1664208"/>
            <a:ext cx="7918704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- Monday and Tuesday (8am to 6pm)</a:t>
            </a:r>
            <a:r>
              <a:rPr lang="en-US" dirty="0"/>
              <a:t> – Drop off of models,  photos, and displays, and the room is open to convention attendees.</a:t>
            </a:r>
          </a:p>
          <a:p>
            <a:r>
              <a:rPr lang="en-US" u="sng" dirty="0"/>
              <a:t>- Monday (1pm) </a:t>
            </a:r>
            <a:r>
              <a:rPr lang="en-US" dirty="0"/>
              <a:t>– Judging Clinic</a:t>
            </a:r>
          </a:p>
          <a:p>
            <a:r>
              <a:rPr lang="en-US" u="sng" dirty="0"/>
              <a:t>- Tuesday (1pm to 6pm) </a:t>
            </a:r>
            <a:r>
              <a:rPr lang="en-US" dirty="0"/>
              <a:t>– Meet the Modeler, Photographer and Crafter Afternoon  </a:t>
            </a:r>
          </a:p>
          <a:p>
            <a:r>
              <a:rPr lang="en-US" u="sng" dirty="0"/>
              <a:t>- Tuesday (8am to 6pm) and Wednesday (8am to noon)</a:t>
            </a:r>
            <a:r>
              <a:rPr lang="en-US" dirty="0"/>
              <a:t> – Balloting for </a:t>
            </a:r>
            <a:r>
              <a:rPr lang="en-US" i="1" dirty="0"/>
              <a:t>The People’s Choice Awards</a:t>
            </a:r>
            <a:r>
              <a:rPr lang="en-US" dirty="0"/>
              <a:t>.  </a:t>
            </a:r>
          </a:p>
          <a:p>
            <a:r>
              <a:rPr lang="en-US" u="sng" dirty="0"/>
              <a:t>- </a:t>
            </a:r>
            <a:r>
              <a:rPr lang="en-US" u="sng" dirty="0">
                <a:solidFill>
                  <a:srgbClr val="FF0000"/>
                </a:solidFill>
              </a:rPr>
              <a:t>Wednesday (8:30am to 4pm)</a:t>
            </a:r>
            <a:r>
              <a:rPr lang="en-US" dirty="0">
                <a:solidFill>
                  <a:srgbClr val="FF0000"/>
                </a:solidFill>
              </a:rPr>
              <a:t> – Judging takes place. </a:t>
            </a:r>
            <a:r>
              <a:rPr lang="en-US" dirty="0"/>
              <a:t>All convention attendees are welcome to observe…but NO TALKING please!</a:t>
            </a:r>
          </a:p>
          <a:p>
            <a:r>
              <a:rPr lang="en-US" u="sng" dirty="0"/>
              <a:t>- Thursday (9am to 11am)</a:t>
            </a:r>
            <a:r>
              <a:rPr lang="en-US" dirty="0"/>
              <a:t> – Contest Score Review - Entrants stop in to review THEIR OWN score sheet.</a:t>
            </a:r>
          </a:p>
          <a:p>
            <a:r>
              <a:rPr lang="en-US" u="sng" dirty="0"/>
              <a:t>- Thursday (9am to 2pm) – </a:t>
            </a:r>
            <a:r>
              <a:rPr lang="en-US" dirty="0"/>
              <a:t>The room is open to the public.</a:t>
            </a:r>
          </a:p>
          <a:p>
            <a:r>
              <a:rPr lang="en-US" u="sng" dirty="0"/>
              <a:t>- Thursday (2pm)</a:t>
            </a:r>
            <a:r>
              <a:rPr lang="en-US" dirty="0"/>
              <a:t> – Awards Ceremony </a:t>
            </a:r>
          </a:p>
          <a:p>
            <a:r>
              <a:rPr lang="en-US" u="sng" dirty="0"/>
              <a:t>- Thursday (4pm)</a:t>
            </a:r>
            <a:r>
              <a:rPr lang="en-US" dirty="0"/>
              <a:t> – The Celebration Room will be closed for the rest of the day for award photos.</a:t>
            </a:r>
          </a:p>
          <a:p>
            <a:r>
              <a:rPr lang="en-US" u="sng" dirty="0"/>
              <a:t>- Friday (8am to Noon)</a:t>
            </a:r>
            <a:r>
              <a:rPr lang="en-US" dirty="0"/>
              <a:t> – All models must be picked up.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925513" y="1028700"/>
            <a:ext cx="7632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400">
                <a:solidFill>
                  <a:schemeClr val="accent2"/>
                </a:solidFill>
                <a:latin typeface="Arial Black" pitchFamily="34" charset="0"/>
              </a:rPr>
              <a:t>Who &amp; what kind of entries will I be judging?</a:t>
            </a:r>
          </a:p>
        </p:txBody>
      </p:sp>
      <p:sp>
        <p:nvSpPr>
          <p:cNvPr id="11267" name="Rectangle 5"/>
          <p:cNvSpPr>
            <a:spLocks noChangeArrowheads="1"/>
          </p:cNvSpPr>
          <p:nvPr/>
        </p:nvSpPr>
        <p:spPr bwMode="auto">
          <a:xfrm>
            <a:off x="1308100" y="1765300"/>
            <a:ext cx="1638300" cy="3937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68" name="Rectangle 6"/>
          <p:cNvSpPr>
            <a:spLocks noChangeArrowheads="1"/>
          </p:cNvSpPr>
          <p:nvPr/>
        </p:nvSpPr>
        <p:spPr bwMode="auto">
          <a:xfrm>
            <a:off x="1320800" y="5249702"/>
            <a:ext cx="4335463" cy="4191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2400" b="1" dirty="0"/>
              <a:t>Kinds &amp; Numbers of entries</a:t>
            </a:r>
          </a:p>
        </p:txBody>
      </p:sp>
      <p:sp>
        <p:nvSpPr>
          <p:cNvPr id="11269" name="Text Box 4"/>
          <p:cNvSpPr txBox="1">
            <a:spLocks noChangeArrowheads="1"/>
          </p:cNvSpPr>
          <p:nvPr/>
        </p:nvSpPr>
        <p:spPr bwMode="auto">
          <a:xfrm>
            <a:off x="1320800" y="1762125"/>
            <a:ext cx="6540500" cy="3354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400" b="1" dirty="0"/>
              <a:t>Eligibility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b="1" dirty="0"/>
              <a:t> Member eligibility </a:t>
            </a: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b="1" dirty="0"/>
              <a:t> NMRA membership</a:t>
            </a: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b="1" dirty="0"/>
              <a:t> Cannot be professional model builder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b="1" dirty="0"/>
              <a:t> Model eligibility</a:t>
            </a: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b="1" dirty="0"/>
              <a:t> Must be built (90% min.) by entrant</a:t>
            </a: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b="1" dirty="0"/>
              <a:t> 1</a:t>
            </a:r>
            <a:r>
              <a:rPr lang="en-US" b="1" baseline="30000" dirty="0"/>
              <a:t>st</a:t>
            </a:r>
            <a:r>
              <a:rPr lang="en-US" b="1" dirty="0"/>
              <a:t> place National models cannot re-compete</a:t>
            </a:r>
            <a:br>
              <a:rPr lang="en-US" b="1" dirty="0"/>
            </a:br>
            <a:r>
              <a:rPr lang="en-US" b="1" dirty="0"/>
              <a:t>  (region 1</a:t>
            </a:r>
            <a:r>
              <a:rPr lang="en-US" b="1" baseline="30000" dirty="0"/>
              <a:t>st</a:t>
            </a:r>
            <a:r>
              <a:rPr lang="en-US" b="1" dirty="0"/>
              <a:t> placers can compete at national)</a:t>
            </a: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b="1" dirty="0"/>
              <a:t> Entries can be brought through a proxy</a:t>
            </a:r>
          </a:p>
        </p:txBody>
      </p:sp>
      <p:sp>
        <p:nvSpPr>
          <p:cNvPr id="28680" name="Rectangle 8"/>
          <p:cNvSpPr>
            <a:spLocks noChangeArrowheads="1"/>
          </p:cNvSpPr>
          <p:nvPr/>
        </p:nvSpPr>
        <p:spPr bwMode="auto">
          <a:xfrm>
            <a:off x="1066800" y="381000"/>
            <a:ext cx="43942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r>
              <a:rPr lang="en-US" sz="1800" i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Judging National Model Contest</a:t>
            </a:r>
          </a:p>
        </p:txBody>
      </p:sp>
      <p:sp>
        <p:nvSpPr>
          <p:cNvPr id="11271" name="Text Box 10"/>
          <p:cNvSpPr txBox="1">
            <a:spLocks noChangeArrowheads="1"/>
          </p:cNvSpPr>
          <p:nvPr/>
        </p:nvSpPr>
        <p:spPr bwMode="auto">
          <a:xfrm>
            <a:off x="1320800" y="5759450"/>
            <a:ext cx="7010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Tx/>
              <a:buChar char="•"/>
            </a:pPr>
            <a:r>
              <a:rPr lang="en-US" b="1" dirty="0"/>
              <a:t> All types &amp; scales of locos, cars, structures &amp; scenes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b="1" dirty="0"/>
              <a:t> Typically 60 to 80 models are judged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ChangeArrowheads="1"/>
          </p:cNvSpPr>
          <p:nvPr/>
        </p:nvSpPr>
        <p:spPr bwMode="auto">
          <a:xfrm>
            <a:off x="1143000" y="4838700"/>
            <a:ext cx="2794000" cy="3810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291" name="Rectangle 2"/>
          <p:cNvSpPr>
            <a:spLocks noChangeArrowheads="1"/>
          </p:cNvSpPr>
          <p:nvPr/>
        </p:nvSpPr>
        <p:spPr bwMode="auto">
          <a:xfrm>
            <a:off x="1143000" y="1778000"/>
            <a:ext cx="5806440" cy="3810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292" name="Rectangle 3"/>
          <p:cNvSpPr>
            <a:spLocks noChangeArrowheads="1"/>
          </p:cNvSpPr>
          <p:nvPr/>
        </p:nvSpPr>
        <p:spPr bwMode="auto">
          <a:xfrm>
            <a:off x="1143000" y="3810000"/>
            <a:ext cx="7112000" cy="6985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5717" name="Text Box 5"/>
          <p:cNvSpPr txBox="1">
            <a:spLocks noChangeArrowheads="1"/>
          </p:cNvSpPr>
          <p:nvPr/>
        </p:nvSpPr>
        <p:spPr bwMode="auto">
          <a:xfrm>
            <a:off x="1009650" y="990600"/>
            <a:ext cx="66786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800">
                <a:solidFill>
                  <a:schemeClr val="accent2"/>
                </a:solidFill>
                <a:latin typeface="Arial Black" pitchFamily="34" charset="0"/>
              </a:rPr>
              <a:t>How &amp; when is the judging done?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1143000" y="1752600"/>
            <a:ext cx="7607300" cy="4585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400" b="1" dirty="0"/>
              <a:t>Judging is done in teams of 3 people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b="1" dirty="0"/>
              <a:t> The team leader is an experienced judge &amp; modeler. He or she guides the others through the process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b="1" dirty="0"/>
              <a:t> New or inexperienced judges are placed with experienced judges to be given training and guidance and are welcome</a:t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sz="2400" b="1" dirty="0"/>
              <a:t>Each team is responsible for judging one of five aspects or factors (more on this later)</a:t>
            </a:r>
            <a:br>
              <a:rPr lang="en-US" sz="2400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sz="2400" b="1" dirty="0"/>
              <a:t>Judging schedule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b="1" dirty="0"/>
              <a:t> Judging starts on Wednesday morning – Report by 8:00am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b="1" dirty="0"/>
              <a:t> It usually takes five to six hours depending on the</a:t>
            </a:r>
            <a:br>
              <a:rPr lang="en-US" b="1" dirty="0"/>
            </a:br>
            <a:r>
              <a:rPr lang="en-US" b="1" dirty="0"/>
              <a:t>  number of models (typ. 60 to 80 models)</a:t>
            </a:r>
          </a:p>
        </p:txBody>
      </p:sp>
      <p:sp>
        <p:nvSpPr>
          <p:cNvPr id="115721" name="Rectangle 9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4546600" cy="3683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1800" i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Judging National Model Contest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ChangeArrowheads="1"/>
          </p:cNvSpPr>
          <p:nvPr/>
        </p:nvSpPr>
        <p:spPr bwMode="auto">
          <a:xfrm>
            <a:off x="1143000" y="1778000"/>
            <a:ext cx="6438900" cy="3810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15" name="Rectangle 9"/>
          <p:cNvSpPr>
            <a:spLocks noChangeArrowheads="1"/>
          </p:cNvSpPr>
          <p:nvPr/>
        </p:nvSpPr>
        <p:spPr bwMode="auto">
          <a:xfrm>
            <a:off x="1143000" y="1778000"/>
            <a:ext cx="6438900" cy="3810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16" name="Rectangle 11"/>
          <p:cNvSpPr>
            <a:spLocks noChangeArrowheads="1"/>
          </p:cNvSpPr>
          <p:nvPr/>
        </p:nvSpPr>
        <p:spPr bwMode="auto">
          <a:xfrm>
            <a:off x="1143000" y="1778000"/>
            <a:ext cx="6438900" cy="3810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2400" b="1"/>
              <a:t>The models are judged on two key aspects.</a:t>
            </a:r>
          </a:p>
        </p:txBody>
      </p:sp>
      <p:sp>
        <p:nvSpPr>
          <p:cNvPr id="116742" name="Text Box 6"/>
          <p:cNvSpPr txBox="1">
            <a:spLocks noChangeArrowheads="1"/>
          </p:cNvSpPr>
          <p:nvPr/>
        </p:nvSpPr>
        <p:spPr bwMode="auto">
          <a:xfrm>
            <a:off x="1065213" y="990600"/>
            <a:ext cx="63214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800">
                <a:solidFill>
                  <a:schemeClr val="accent2"/>
                </a:solidFill>
                <a:latin typeface="Arial Black" pitchFamily="34" charset="0"/>
              </a:rPr>
              <a:t>How are the models evaluated?</a:t>
            </a:r>
          </a:p>
        </p:txBody>
      </p:sp>
      <p:sp>
        <p:nvSpPr>
          <p:cNvPr id="13318" name="Text Box 7"/>
          <p:cNvSpPr txBox="1">
            <a:spLocks noChangeArrowheads="1"/>
          </p:cNvSpPr>
          <p:nvPr/>
        </p:nvSpPr>
        <p:spPr bwMode="auto">
          <a:xfrm>
            <a:off x="1079500" y="4000500"/>
            <a:ext cx="76200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Tx/>
              <a:buChar char="•"/>
            </a:pPr>
            <a:r>
              <a:rPr lang="en-US" b="1" dirty="0"/>
              <a:t> Place Awards (Generally 1</a:t>
            </a:r>
            <a:r>
              <a:rPr lang="en-US" b="1" baseline="30000" dirty="0"/>
              <a:t>st</a:t>
            </a:r>
            <a:r>
              <a:rPr lang="en-US" b="1" dirty="0"/>
              <a:t>, 2</a:t>
            </a:r>
            <a:r>
              <a:rPr lang="en-US" b="1" baseline="30000" dirty="0"/>
              <a:t>nd</a:t>
            </a:r>
            <a:r>
              <a:rPr lang="en-US" b="1" dirty="0"/>
              <a:t>, 3</a:t>
            </a:r>
            <a:r>
              <a:rPr lang="en-US" b="1" baseline="30000" dirty="0"/>
              <a:t>rd</a:t>
            </a:r>
            <a:r>
              <a:rPr lang="en-US" b="1" dirty="0"/>
              <a:t>) are given in each category (structure,</a:t>
            </a:r>
            <a:r>
              <a:rPr lang="en-US" dirty="0"/>
              <a:t> </a:t>
            </a:r>
            <a:r>
              <a:rPr lang="en-US" b="1" dirty="0"/>
              <a:t>car, loco, etc. )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b="1" dirty="0"/>
              <a:t> Overall score determines eligibility for a Merit Award</a:t>
            </a:r>
          </a:p>
        </p:txBody>
      </p:sp>
      <p:sp>
        <p:nvSpPr>
          <p:cNvPr id="13319" name="Rectangle 16"/>
          <p:cNvSpPr>
            <a:spLocks noChangeArrowheads="1"/>
          </p:cNvSpPr>
          <p:nvPr/>
        </p:nvSpPr>
        <p:spPr bwMode="auto">
          <a:xfrm>
            <a:off x="1143000" y="5245100"/>
            <a:ext cx="7493000" cy="11557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i="1" dirty="0"/>
              <a:t>One of the most important aspects of judging is to</a:t>
            </a:r>
          </a:p>
          <a:p>
            <a:pPr algn="ctr"/>
            <a:r>
              <a:rPr lang="en-US" b="1" i="1" dirty="0"/>
              <a:t>score models fairly &amp; uniformly with respect to the</a:t>
            </a:r>
          </a:p>
          <a:p>
            <a:pPr algn="ctr"/>
            <a:r>
              <a:rPr lang="en-US" sz="2400" b="1" i="1" dirty="0"/>
              <a:t>Merit Award level (87.5 pts. of the 125 total)</a:t>
            </a:r>
            <a:endParaRPr lang="en-US" b="1" i="1" dirty="0"/>
          </a:p>
        </p:txBody>
      </p:sp>
      <p:sp>
        <p:nvSpPr>
          <p:cNvPr id="116755" name="Rectangle 19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4368800" cy="3683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1800" i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Judging National Model Contest</a:t>
            </a:r>
          </a:p>
        </p:txBody>
      </p:sp>
      <p:sp>
        <p:nvSpPr>
          <p:cNvPr id="13321" name="Rectangle 15"/>
          <p:cNvSpPr>
            <a:spLocks noChangeArrowheads="1"/>
          </p:cNvSpPr>
          <p:nvPr/>
        </p:nvSpPr>
        <p:spPr bwMode="auto">
          <a:xfrm>
            <a:off x="1143000" y="3124200"/>
            <a:ext cx="5020056" cy="7493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2400" b="1" dirty="0"/>
              <a:t>Scoring system:   Max pts. – 125</a:t>
            </a:r>
          </a:p>
        </p:txBody>
      </p:sp>
      <p:sp>
        <p:nvSpPr>
          <p:cNvPr id="13322" name="Rectangle 20"/>
          <p:cNvSpPr>
            <a:spLocks noChangeArrowheads="1"/>
          </p:cNvSpPr>
          <p:nvPr/>
        </p:nvSpPr>
        <p:spPr bwMode="auto">
          <a:xfrm>
            <a:off x="1295400" y="2278063"/>
            <a:ext cx="62865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Tx/>
              <a:buChar char="•"/>
            </a:pPr>
            <a:r>
              <a:rPr lang="en-US" b="1" dirty="0"/>
              <a:t> What did the modeler intend to build?</a:t>
            </a:r>
          </a:p>
          <a:p>
            <a:pPr>
              <a:buFontTx/>
              <a:buChar char="•"/>
            </a:pPr>
            <a:r>
              <a:rPr lang="en-US" b="1" dirty="0"/>
              <a:t> How well did he or she achieve that goal?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4"/>
          <p:cNvSpPr>
            <a:spLocks noChangeArrowheads="1"/>
          </p:cNvSpPr>
          <p:nvPr/>
        </p:nvSpPr>
        <p:spPr bwMode="auto">
          <a:xfrm>
            <a:off x="1143000" y="1778000"/>
            <a:ext cx="7594600" cy="7493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1" name="Rectangle 13"/>
          <p:cNvSpPr>
            <a:spLocks noChangeArrowheads="1"/>
          </p:cNvSpPr>
          <p:nvPr/>
        </p:nvSpPr>
        <p:spPr bwMode="auto">
          <a:xfrm>
            <a:off x="1155700" y="5384800"/>
            <a:ext cx="6324600" cy="4826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1079500" y="990600"/>
            <a:ext cx="58070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2"/>
                </a:solidFill>
                <a:latin typeface="Arial Black" pitchFamily="34" charset="0"/>
              </a:rPr>
              <a:t>So what are the five factors?</a:t>
            </a:r>
          </a:p>
        </p:txBody>
      </p:sp>
      <p:sp>
        <p:nvSpPr>
          <p:cNvPr id="27664" name="Rectangle 16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4508500" cy="3683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1800" i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Judging National Model Contest</a:t>
            </a:r>
          </a:p>
        </p:txBody>
      </p:sp>
      <p:grpSp>
        <p:nvGrpSpPr>
          <p:cNvPr id="14342" name="Group 18"/>
          <p:cNvGrpSpPr>
            <a:grpSpLocks/>
          </p:cNvGrpSpPr>
          <p:nvPr/>
        </p:nvGrpSpPr>
        <p:grpSpPr bwMode="auto">
          <a:xfrm>
            <a:off x="1143000" y="1752600"/>
            <a:ext cx="7759700" cy="4838700"/>
            <a:chOff x="720" y="1104"/>
            <a:chExt cx="4888" cy="3048"/>
          </a:xfrm>
        </p:grpSpPr>
        <p:sp>
          <p:nvSpPr>
            <p:cNvPr id="14343" name="Text Box 4"/>
            <p:cNvSpPr txBox="1">
              <a:spLocks noChangeArrowheads="1"/>
            </p:cNvSpPr>
            <p:nvPr/>
          </p:nvSpPr>
          <p:spPr bwMode="auto">
            <a:xfrm>
              <a:off x="720" y="1104"/>
              <a:ext cx="4888" cy="30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US" sz="2400" b="1"/>
                <a:t>Each of the five factors looks at a different aspect</a:t>
              </a:r>
              <a:br>
                <a:rPr lang="en-US" sz="2400" b="1"/>
              </a:br>
              <a:r>
                <a:rPr lang="en-US" sz="2400" b="1"/>
                <a:t>of the model &amp; has specific point allotments.</a:t>
              </a:r>
            </a:p>
            <a:p>
              <a:pPr lvl="1">
                <a:spcBef>
                  <a:spcPct val="20000"/>
                </a:spcBef>
                <a:buFontTx/>
                <a:buChar char="•"/>
              </a:pPr>
              <a:r>
                <a:rPr lang="en-US" sz="2400" b="1"/>
                <a:t> Construction	   	40 pts</a:t>
              </a:r>
            </a:p>
            <a:p>
              <a:pPr lvl="1">
                <a:spcBef>
                  <a:spcPct val="20000"/>
                </a:spcBef>
                <a:buFontTx/>
                <a:buChar char="•"/>
              </a:pPr>
              <a:r>
                <a:rPr lang="en-US" sz="2400" b="1"/>
                <a:t> Conformity	   	25 pts</a:t>
              </a:r>
            </a:p>
            <a:p>
              <a:pPr lvl="1">
                <a:spcBef>
                  <a:spcPct val="20000"/>
                </a:spcBef>
                <a:buFontTx/>
                <a:buChar char="•"/>
              </a:pPr>
              <a:r>
                <a:rPr lang="en-US" sz="2400" b="1"/>
                <a:t> Detail		   	20 pts</a:t>
              </a:r>
            </a:p>
            <a:p>
              <a:pPr lvl="1">
                <a:spcBef>
                  <a:spcPct val="20000"/>
                </a:spcBef>
                <a:buFontTx/>
                <a:buChar char="•"/>
              </a:pPr>
              <a:r>
                <a:rPr lang="en-US" sz="2400" b="1"/>
                <a:t> Appearance	   	25 pts</a:t>
              </a:r>
            </a:p>
            <a:p>
              <a:pPr lvl="1">
                <a:spcBef>
                  <a:spcPct val="20000"/>
                </a:spcBef>
                <a:buFontTx/>
                <a:buChar char="•"/>
              </a:pPr>
              <a:r>
                <a:rPr lang="en-US" sz="2400" b="1"/>
                <a:t> Scratchbuilding	15 pts</a:t>
              </a:r>
            </a:p>
            <a:p>
              <a:pPr lvl="1">
                <a:spcBef>
                  <a:spcPct val="50000"/>
                </a:spcBef>
              </a:pPr>
              <a:r>
                <a:rPr lang="en-US" sz="2400" b="1"/>
                <a:t>  Total		 	125 pts</a:t>
              </a:r>
            </a:p>
            <a:p>
              <a:pPr>
                <a:spcBef>
                  <a:spcPct val="50000"/>
                </a:spcBef>
              </a:pPr>
              <a:r>
                <a:rPr lang="en-US" sz="2400" b="1"/>
                <a:t>We will carefully examine each factor later</a:t>
              </a:r>
              <a:br>
                <a:rPr lang="en-US" sz="2400" b="1"/>
              </a:br>
              <a:r>
                <a:rPr lang="en-US" sz="2400" b="1"/>
                <a:t/>
              </a:r>
              <a:br>
                <a:rPr lang="en-US" sz="2400" b="1"/>
              </a:br>
              <a:endParaRPr lang="en-US" sz="2400" b="1"/>
            </a:p>
          </p:txBody>
        </p:sp>
        <p:sp>
          <p:nvSpPr>
            <p:cNvPr id="14344" name="Line 17"/>
            <p:cNvSpPr>
              <a:spLocks noChangeShapeType="1"/>
            </p:cNvSpPr>
            <p:nvPr/>
          </p:nvSpPr>
          <p:spPr bwMode="auto">
            <a:xfrm>
              <a:off x="1072" y="3040"/>
              <a:ext cx="2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Text Box 5"/>
          <p:cNvSpPr txBox="1">
            <a:spLocks noChangeArrowheads="1"/>
          </p:cNvSpPr>
          <p:nvPr/>
        </p:nvSpPr>
        <p:spPr bwMode="auto">
          <a:xfrm>
            <a:off x="1019175" y="803275"/>
            <a:ext cx="73453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800">
                <a:solidFill>
                  <a:schemeClr val="accent2"/>
                </a:solidFill>
                <a:latin typeface="Arial Black" pitchFamily="34" charset="0"/>
              </a:rPr>
              <a:t>And, what are the model categories?</a:t>
            </a:r>
          </a:p>
        </p:txBody>
      </p:sp>
      <p:sp>
        <p:nvSpPr>
          <p:cNvPr id="15363" name="Text Box 6"/>
          <p:cNvSpPr txBox="1">
            <a:spLocks noChangeArrowheads="1"/>
          </p:cNvSpPr>
          <p:nvPr/>
        </p:nvSpPr>
        <p:spPr bwMode="auto">
          <a:xfrm>
            <a:off x="1155700" y="1371600"/>
            <a:ext cx="6235700" cy="4572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400" b="1" dirty="0"/>
              <a:t>Nine categories group models by type</a:t>
            </a:r>
          </a:p>
        </p:txBody>
      </p:sp>
      <p:pic>
        <p:nvPicPr>
          <p:cNvPr id="15364" name="Picture 9" descr="Steam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054100" y="1882775"/>
            <a:ext cx="3190875" cy="969963"/>
          </a:xfrm>
          <a:noFill/>
        </p:spPr>
      </p:pic>
      <p:sp>
        <p:nvSpPr>
          <p:cNvPr id="15365" name="Text Box 20"/>
          <p:cNvSpPr txBox="1">
            <a:spLocks noChangeArrowheads="1"/>
          </p:cNvSpPr>
          <p:nvPr/>
        </p:nvSpPr>
        <p:spPr bwMode="auto">
          <a:xfrm>
            <a:off x="1938338" y="2713038"/>
            <a:ext cx="1631950" cy="274637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200" b="1"/>
              <a:t>Locomotive - Steam</a:t>
            </a:r>
          </a:p>
        </p:txBody>
      </p:sp>
      <p:pic>
        <p:nvPicPr>
          <p:cNvPr id="15366" name="Picture 15" descr="Non-Rev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6130925" y="2870200"/>
            <a:ext cx="2378075" cy="1038225"/>
          </a:xfrm>
          <a:noFill/>
        </p:spPr>
      </p:pic>
      <p:sp>
        <p:nvSpPr>
          <p:cNvPr id="15367" name="Text Box 21"/>
          <p:cNvSpPr txBox="1">
            <a:spLocks noChangeArrowheads="1"/>
          </p:cNvSpPr>
          <p:nvPr/>
        </p:nvSpPr>
        <p:spPr bwMode="auto">
          <a:xfrm>
            <a:off x="6524625" y="3843338"/>
            <a:ext cx="1544638" cy="274637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200" b="1"/>
              <a:t>Non-Revenue Cars</a:t>
            </a:r>
          </a:p>
        </p:txBody>
      </p:sp>
      <p:pic>
        <p:nvPicPr>
          <p:cNvPr id="15368" name="Picture 18" descr="P8 Min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93800" y="4633913"/>
            <a:ext cx="3536950" cy="175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9" name="Text Box 22"/>
          <p:cNvSpPr txBox="1">
            <a:spLocks noChangeArrowheads="1"/>
          </p:cNvSpPr>
          <p:nvPr/>
        </p:nvSpPr>
        <p:spPr bwMode="auto">
          <a:xfrm>
            <a:off x="3656113" y="6053138"/>
            <a:ext cx="883575" cy="276999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200" b="1" dirty="0"/>
              <a:t>Dioramas</a:t>
            </a:r>
          </a:p>
        </p:txBody>
      </p:sp>
      <p:pic>
        <p:nvPicPr>
          <p:cNvPr id="15370" name="Picture 11" descr="Evans RS-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5" cstate="print"/>
          <a:srcRect t="3409"/>
          <a:stretch>
            <a:fillRect/>
          </a:stretch>
        </p:blipFill>
        <p:spPr>
          <a:xfrm>
            <a:off x="1663700" y="3070225"/>
            <a:ext cx="2127250" cy="1079500"/>
          </a:xfrm>
          <a:noFill/>
        </p:spPr>
      </p:pic>
      <p:sp>
        <p:nvSpPr>
          <p:cNvPr id="15371" name="Text Box 23"/>
          <p:cNvSpPr txBox="1">
            <a:spLocks noChangeArrowheads="1"/>
          </p:cNvSpPr>
          <p:nvPr/>
        </p:nvSpPr>
        <p:spPr bwMode="auto">
          <a:xfrm>
            <a:off x="1033463" y="4097338"/>
            <a:ext cx="2343150" cy="274637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200" b="1"/>
              <a:t>Locomotives – Diesel &amp; Other</a:t>
            </a:r>
          </a:p>
        </p:txBody>
      </p:sp>
      <p:pic>
        <p:nvPicPr>
          <p:cNvPr id="15372" name="Picture 13" descr="Boxcar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6" cstate="print"/>
          <a:srcRect/>
          <a:stretch>
            <a:fillRect/>
          </a:stretch>
        </p:blipFill>
        <p:spPr>
          <a:xfrm>
            <a:off x="6124575" y="4124325"/>
            <a:ext cx="2330450" cy="1169988"/>
          </a:xfrm>
          <a:noFill/>
        </p:spPr>
      </p:pic>
      <p:sp>
        <p:nvSpPr>
          <p:cNvPr id="15373" name="Text Box 24"/>
          <p:cNvSpPr txBox="1">
            <a:spLocks noChangeArrowheads="1"/>
          </p:cNvSpPr>
          <p:nvPr/>
        </p:nvSpPr>
        <p:spPr bwMode="auto">
          <a:xfrm>
            <a:off x="7407275" y="4897438"/>
            <a:ext cx="1081088" cy="274637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200" b="1"/>
              <a:t>Freight Cars</a:t>
            </a:r>
          </a:p>
        </p:txBody>
      </p:sp>
      <p:pic>
        <p:nvPicPr>
          <p:cNvPr id="15374" name="Picture 17" descr="Passenger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921250" y="5424488"/>
            <a:ext cx="3543300" cy="814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75" name="Text Box 25"/>
          <p:cNvSpPr txBox="1">
            <a:spLocks noChangeArrowheads="1"/>
          </p:cNvSpPr>
          <p:nvPr/>
        </p:nvSpPr>
        <p:spPr bwMode="auto">
          <a:xfrm>
            <a:off x="5943600" y="6254750"/>
            <a:ext cx="1331913" cy="274638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200" b="1"/>
              <a:t>Passenger Cars</a:t>
            </a:r>
          </a:p>
        </p:txBody>
      </p:sp>
      <p:pic>
        <p:nvPicPr>
          <p:cNvPr id="15376" name="Picture 19" descr="Coaling Tower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445000" y="2382838"/>
            <a:ext cx="1558925" cy="292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77" name="Text Box 26"/>
          <p:cNvSpPr txBox="1">
            <a:spLocks noChangeArrowheads="1"/>
          </p:cNvSpPr>
          <p:nvPr/>
        </p:nvSpPr>
        <p:spPr bwMode="auto">
          <a:xfrm>
            <a:off x="4759322" y="1912938"/>
            <a:ext cx="952505" cy="276999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200" b="1" dirty="0"/>
              <a:t>Structures</a:t>
            </a:r>
          </a:p>
        </p:txBody>
      </p:sp>
      <p:sp>
        <p:nvSpPr>
          <p:cNvPr id="29732" name="Rectangle 36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4406900" cy="3683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1800" i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Judging National Model Contest</a:t>
            </a:r>
          </a:p>
        </p:txBody>
      </p:sp>
      <p:pic>
        <p:nvPicPr>
          <p:cNvPr id="15379" name="Picture 37"/>
          <p:cNvPicPr>
            <a:picLocks noChangeAspect="1" noChangeArrowheads="1"/>
          </p:cNvPicPr>
          <p:nvPr/>
        </p:nvPicPr>
        <p:blipFill>
          <a:blip r:embed="rId9" cstate="print"/>
          <a:srcRect l="15886" t="26563" r="3125" b="12326"/>
          <a:stretch>
            <a:fillRect/>
          </a:stretch>
        </p:blipFill>
        <p:spPr bwMode="auto">
          <a:xfrm>
            <a:off x="6276975" y="1893888"/>
            <a:ext cx="2143125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80" name="Text Box 38"/>
          <p:cNvSpPr txBox="1">
            <a:spLocks noChangeArrowheads="1"/>
          </p:cNvSpPr>
          <p:nvPr/>
        </p:nvSpPr>
        <p:spPr bwMode="auto">
          <a:xfrm>
            <a:off x="6148388" y="1887538"/>
            <a:ext cx="911225" cy="274637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200" b="1"/>
              <a:t>Cabooses</a:t>
            </a:r>
          </a:p>
        </p:txBody>
      </p:sp>
      <p:sp>
        <p:nvSpPr>
          <p:cNvPr id="15381" name="Text Box 39"/>
          <p:cNvSpPr txBox="1">
            <a:spLocks noChangeArrowheads="1"/>
          </p:cNvSpPr>
          <p:nvPr/>
        </p:nvSpPr>
        <p:spPr bwMode="auto">
          <a:xfrm>
            <a:off x="3522663" y="4249738"/>
            <a:ext cx="785812" cy="274637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200" b="1"/>
              <a:t>Traction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1188720" y="1560576"/>
            <a:ext cx="7543800" cy="4844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400" b="1" dirty="0"/>
              <a:t>Yes, we use the -  </a:t>
            </a:r>
            <a:r>
              <a:rPr lang="en-US" sz="2400" b="1" i="1" u="sng" dirty="0"/>
              <a:t>Achievement Program</a:t>
            </a:r>
            <a:br>
              <a:rPr lang="en-US" sz="2400" b="1" i="1" u="sng" dirty="0"/>
            </a:br>
            <a:r>
              <a:rPr lang="en-US" sz="2400" b="1" i="1" u="sng" dirty="0"/>
              <a:t>Judging Guidelines</a:t>
            </a:r>
            <a:r>
              <a:rPr lang="en-US" sz="2400" b="1" dirty="0"/>
              <a:t> which provides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b="1" dirty="0"/>
              <a:t> Two dimensional judging matrices to combine</a:t>
            </a: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b="1" dirty="0"/>
              <a:t> Complexity and scope of the intended model &amp;</a:t>
            </a: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b="1" dirty="0"/>
              <a:t> How well was the intention achieved (quality/quantity)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b="1" dirty="0"/>
              <a:t> Specific descriptions of what to look for, what to</a:t>
            </a:r>
            <a:br>
              <a:rPr lang="en-US" b="1" dirty="0"/>
            </a:br>
            <a:r>
              <a:rPr lang="en-US" b="1" dirty="0"/>
              <a:t>  emphasize and other tips</a:t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sz="2400" b="1" dirty="0"/>
              <a:t>We also depend on the </a:t>
            </a:r>
            <a:r>
              <a:rPr lang="en-US" sz="2400" b="1" i="1" u="sng" dirty="0"/>
              <a:t>Judging form (901)</a:t>
            </a:r>
            <a:r>
              <a:rPr lang="en-US" sz="2400" b="1" dirty="0"/>
              <a:t> filled out by the entrant which provides…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sz="2400" b="1" dirty="0"/>
              <a:t> </a:t>
            </a:r>
            <a:r>
              <a:rPr lang="en-US" b="1" dirty="0"/>
              <a:t>Model specific information telling us things like:</a:t>
            </a: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b="1" dirty="0"/>
              <a:t> What he or she intended to build </a:t>
            </a: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b="1" dirty="0"/>
              <a:t> How much was scratch-built vs. kit or commercial parts</a:t>
            </a:r>
          </a:p>
        </p:txBody>
      </p:sp>
      <p:sp>
        <p:nvSpPr>
          <p:cNvPr id="141315" name="Text Box 3"/>
          <p:cNvSpPr txBox="1">
            <a:spLocks noChangeArrowheads="1"/>
          </p:cNvSpPr>
          <p:nvPr/>
        </p:nvSpPr>
        <p:spPr bwMode="auto">
          <a:xfrm>
            <a:off x="1055688" y="803275"/>
            <a:ext cx="759301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3200">
                <a:solidFill>
                  <a:schemeClr val="accent2"/>
                </a:solidFill>
                <a:latin typeface="Arial Black" pitchFamily="34" charset="0"/>
              </a:rPr>
              <a:t>Are there any written guidelines?</a:t>
            </a:r>
          </a:p>
        </p:txBody>
      </p:sp>
      <p:sp>
        <p:nvSpPr>
          <p:cNvPr id="141316" name="Rectangle 4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4876800" cy="3683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2000" i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Judging National Model Contest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6" name="Text Box 4"/>
          <p:cNvSpPr txBox="1">
            <a:spLocks noChangeArrowheads="1"/>
          </p:cNvSpPr>
          <p:nvPr/>
        </p:nvSpPr>
        <p:spPr bwMode="auto">
          <a:xfrm>
            <a:off x="1093788" y="987425"/>
            <a:ext cx="71580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400">
                <a:solidFill>
                  <a:schemeClr val="accent2"/>
                </a:solidFill>
                <a:latin typeface="Arial Black" pitchFamily="34" charset="0"/>
              </a:rPr>
              <a:t>Achievement Program Judging Guidelines</a:t>
            </a:r>
          </a:p>
        </p:txBody>
      </p:sp>
      <p:grpSp>
        <p:nvGrpSpPr>
          <p:cNvPr id="1028" name="Group 12"/>
          <p:cNvGrpSpPr>
            <a:grpSpLocks/>
          </p:cNvGrpSpPr>
          <p:nvPr/>
        </p:nvGrpSpPr>
        <p:grpSpPr bwMode="auto">
          <a:xfrm>
            <a:off x="3263900" y="1795463"/>
            <a:ext cx="5524500" cy="4826000"/>
            <a:chOff x="1792" y="1131"/>
            <a:chExt cx="3480" cy="3040"/>
          </a:xfrm>
        </p:grpSpPr>
        <p:sp>
          <p:nvSpPr>
            <p:cNvPr id="1032" name="Rectangle 10"/>
            <p:cNvSpPr>
              <a:spLocks noChangeArrowheads="1"/>
            </p:cNvSpPr>
            <p:nvPr/>
          </p:nvSpPr>
          <p:spPr bwMode="auto">
            <a:xfrm>
              <a:off x="1792" y="1131"/>
              <a:ext cx="3480" cy="304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q</a:t>
              </a:r>
            </a:p>
          </p:txBody>
        </p:sp>
        <p:graphicFrame>
          <p:nvGraphicFramePr>
            <p:cNvPr id="1026" name="Object 8"/>
            <p:cNvGraphicFramePr>
              <a:graphicFrameLocks noChangeAspect="1"/>
            </p:cNvGraphicFramePr>
            <p:nvPr/>
          </p:nvGraphicFramePr>
          <p:xfrm>
            <a:off x="1971" y="1323"/>
            <a:ext cx="3296" cy="28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7" name="Photo Editor Photo" r:id="rId3" imgW="4428571" imgH="3828571" progId="">
                    <p:embed/>
                  </p:oleObj>
                </mc:Choice>
                <mc:Fallback>
                  <p:oleObj name="Photo Editor Photo" r:id="rId3" imgW="4428571" imgH="3828571" progId="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1" y="1323"/>
                          <a:ext cx="3296" cy="2848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29" name="Text Box 13"/>
          <p:cNvSpPr txBox="1">
            <a:spLocks noChangeArrowheads="1"/>
          </p:cNvSpPr>
          <p:nvPr/>
        </p:nvSpPr>
        <p:spPr bwMode="auto">
          <a:xfrm>
            <a:off x="1155700" y="2044700"/>
            <a:ext cx="1854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1030" name="Text Box 14"/>
          <p:cNvSpPr txBox="1">
            <a:spLocks noChangeArrowheads="1"/>
          </p:cNvSpPr>
          <p:nvPr/>
        </p:nvSpPr>
        <p:spPr bwMode="auto">
          <a:xfrm>
            <a:off x="1025525" y="1827213"/>
            <a:ext cx="2273300" cy="451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US"/>
              <a:t> </a:t>
            </a:r>
            <a:r>
              <a:rPr lang="en-US" b="1"/>
              <a:t>The “Judging</a:t>
            </a:r>
          </a:p>
          <a:p>
            <a:r>
              <a:rPr lang="en-US" b="1"/>
              <a:t>  Guidelines” is</a:t>
            </a:r>
            <a:br>
              <a:rPr lang="en-US" b="1"/>
            </a:br>
            <a:r>
              <a:rPr lang="en-US" b="1"/>
              <a:t>  the bible for</a:t>
            </a:r>
            <a:br>
              <a:rPr lang="en-US" b="1"/>
            </a:br>
            <a:r>
              <a:rPr lang="en-US" b="1"/>
              <a:t>  contest judging</a:t>
            </a:r>
            <a:r>
              <a:rPr lang="en-US" sz="1000" b="1"/>
              <a:t/>
            </a:r>
            <a:br>
              <a:rPr lang="en-US" sz="1000" b="1"/>
            </a:br>
            <a:endParaRPr lang="en-US" sz="1000" b="1"/>
          </a:p>
          <a:p>
            <a:pPr>
              <a:buFontTx/>
              <a:buChar char="•"/>
            </a:pPr>
            <a:r>
              <a:rPr lang="en-US" b="1"/>
              <a:t> Covers all</a:t>
            </a:r>
            <a:br>
              <a:rPr lang="en-US" b="1"/>
            </a:br>
            <a:r>
              <a:rPr lang="en-US" b="1"/>
              <a:t>  factors in all</a:t>
            </a:r>
            <a:br>
              <a:rPr lang="en-US" b="1"/>
            </a:br>
            <a:r>
              <a:rPr lang="en-US" b="1"/>
              <a:t>  categories</a:t>
            </a:r>
            <a:r>
              <a:rPr lang="en-US" sz="1000" b="1"/>
              <a:t/>
            </a:r>
            <a:br>
              <a:rPr lang="en-US" sz="1000" b="1"/>
            </a:br>
            <a:endParaRPr lang="en-US" sz="1000" b="1"/>
          </a:p>
          <a:p>
            <a:pPr>
              <a:buFontTx/>
              <a:buChar char="•"/>
            </a:pPr>
            <a:r>
              <a:rPr lang="en-US" b="1"/>
              <a:t> Includes both</a:t>
            </a:r>
            <a:br>
              <a:rPr lang="en-US" b="1"/>
            </a:br>
            <a:r>
              <a:rPr lang="en-US" b="1"/>
              <a:t>  matrices, tips</a:t>
            </a:r>
            <a:br>
              <a:rPr lang="en-US" b="1"/>
            </a:br>
            <a:r>
              <a:rPr lang="en-US" b="1"/>
              <a:t>  &amp; step-by-step</a:t>
            </a:r>
            <a:br>
              <a:rPr lang="en-US" b="1"/>
            </a:br>
            <a:r>
              <a:rPr lang="en-US" b="1"/>
              <a:t>  guidance</a:t>
            </a:r>
            <a:r>
              <a:rPr lang="en-US" sz="1000" b="1"/>
              <a:t/>
            </a:r>
            <a:br>
              <a:rPr lang="en-US" sz="1000" b="1"/>
            </a:br>
            <a:endParaRPr lang="en-US" sz="1000" b="1"/>
          </a:p>
          <a:p>
            <a:pPr>
              <a:buFontTx/>
              <a:buChar char="•"/>
            </a:pPr>
            <a:r>
              <a:rPr lang="en-US" b="1"/>
              <a:t> Available on</a:t>
            </a:r>
            <a:br>
              <a:rPr lang="en-US" b="1"/>
            </a:br>
            <a:r>
              <a:rPr lang="en-US" b="1"/>
              <a:t>  NMRA website</a:t>
            </a:r>
          </a:p>
        </p:txBody>
      </p:sp>
      <p:sp>
        <p:nvSpPr>
          <p:cNvPr id="125968" name="Rectangle 16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4229100" cy="3683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1800" i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Judging National Model Contest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3" name="Text Box 3"/>
          <p:cNvSpPr txBox="1">
            <a:spLocks noChangeArrowheads="1"/>
          </p:cNvSpPr>
          <p:nvPr/>
        </p:nvSpPr>
        <p:spPr bwMode="auto">
          <a:xfrm>
            <a:off x="1124915" y="974525"/>
            <a:ext cx="396570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chemeClr val="accent2"/>
                </a:solidFill>
                <a:latin typeface="Arial Black" pitchFamily="34" charset="0"/>
              </a:rPr>
              <a:t>Judging Form (902)</a:t>
            </a:r>
          </a:p>
        </p:txBody>
      </p:sp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1155700" y="2044700"/>
            <a:ext cx="1854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2053" name="Text Box 5"/>
          <p:cNvSpPr txBox="1">
            <a:spLocks noChangeArrowheads="1"/>
          </p:cNvSpPr>
          <p:nvPr/>
        </p:nvSpPr>
        <p:spPr bwMode="auto">
          <a:xfrm>
            <a:off x="1054100" y="1827213"/>
            <a:ext cx="25019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US" b="1"/>
              <a:t> Details by factor</a:t>
            </a:r>
          </a:p>
        </p:txBody>
      </p:sp>
      <p:grpSp>
        <p:nvGrpSpPr>
          <p:cNvPr id="2054" name="Group 6"/>
          <p:cNvGrpSpPr>
            <a:grpSpLocks/>
          </p:cNvGrpSpPr>
          <p:nvPr/>
        </p:nvGrpSpPr>
        <p:grpSpPr bwMode="auto">
          <a:xfrm>
            <a:off x="3479800" y="1795463"/>
            <a:ext cx="5359400" cy="4826000"/>
            <a:chOff x="2004" y="1131"/>
            <a:chExt cx="3544" cy="3040"/>
          </a:xfrm>
        </p:grpSpPr>
        <p:sp>
          <p:nvSpPr>
            <p:cNvPr id="2060" name="Rectangle 7"/>
            <p:cNvSpPr>
              <a:spLocks noChangeArrowheads="1"/>
            </p:cNvSpPr>
            <p:nvPr/>
          </p:nvSpPr>
          <p:spPr bwMode="auto">
            <a:xfrm>
              <a:off x="2004" y="1131"/>
              <a:ext cx="3544" cy="304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q</a:t>
              </a:r>
            </a:p>
          </p:txBody>
        </p:sp>
        <p:graphicFrame>
          <p:nvGraphicFramePr>
            <p:cNvPr id="2050" name="Object 8"/>
            <p:cNvGraphicFramePr>
              <a:graphicFrameLocks noChangeAspect="1"/>
            </p:cNvGraphicFramePr>
            <p:nvPr/>
          </p:nvGraphicFramePr>
          <p:xfrm>
            <a:off x="2159" y="1315"/>
            <a:ext cx="3389" cy="28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1" name="Photo Editor Photo" r:id="rId3" imgW="3419952" imgH="2847619" progId="">
                    <p:embed/>
                  </p:oleObj>
                </mc:Choice>
                <mc:Fallback>
                  <p:oleObj name="Photo Editor Photo" r:id="rId3" imgW="3419952" imgH="2847619" progId="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9" y="1315"/>
                          <a:ext cx="3389" cy="28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55" name="Text Box 10"/>
          <p:cNvSpPr txBox="1">
            <a:spLocks noChangeArrowheads="1"/>
          </p:cNvSpPr>
          <p:nvPr/>
        </p:nvSpPr>
        <p:spPr bwMode="auto">
          <a:xfrm>
            <a:off x="1054100" y="2255838"/>
            <a:ext cx="25019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US" b="1"/>
              <a:t> Basis of model –</a:t>
            </a:r>
            <a:br>
              <a:rPr lang="en-US" b="1"/>
            </a:br>
            <a:r>
              <a:rPr lang="en-US" b="1"/>
              <a:t>   kit, kit-bash or</a:t>
            </a:r>
            <a:br>
              <a:rPr lang="en-US" b="1"/>
            </a:br>
            <a:r>
              <a:rPr lang="en-US" b="1"/>
              <a:t>   scratch-built</a:t>
            </a:r>
          </a:p>
        </p:txBody>
      </p:sp>
      <p:sp>
        <p:nvSpPr>
          <p:cNvPr id="2056" name="Text Box 11"/>
          <p:cNvSpPr txBox="1">
            <a:spLocks noChangeArrowheads="1"/>
          </p:cNvSpPr>
          <p:nvPr/>
        </p:nvSpPr>
        <p:spPr bwMode="auto">
          <a:xfrm>
            <a:off x="1054100" y="3294063"/>
            <a:ext cx="25019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US" b="1"/>
              <a:t> Intended proto-</a:t>
            </a:r>
            <a:br>
              <a:rPr lang="en-US" b="1"/>
            </a:br>
            <a:r>
              <a:rPr lang="en-US" b="1"/>
              <a:t>  type &amp; condition</a:t>
            </a:r>
          </a:p>
        </p:txBody>
      </p:sp>
      <p:sp>
        <p:nvSpPr>
          <p:cNvPr id="2057" name="Text Box 12"/>
          <p:cNvSpPr txBox="1">
            <a:spLocks noChangeArrowheads="1"/>
          </p:cNvSpPr>
          <p:nvPr/>
        </p:nvSpPr>
        <p:spPr bwMode="auto">
          <a:xfrm>
            <a:off x="1054100" y="4027488"/>
            <a:ext cx="25019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US" b="1"/>
              <a:t> How model was</a:t>
            </a:r>
            <a:br>
              <a:rPr lang="en-US" b="1"/>
            </a:br>
            <a:r>
              <a:rPr lang="en-US" b="1"/>
              <a:t>  built &amp; finished</a:t>
            </a:r>
          </a:p>
        </p:txBody>
      </p:sp>
      <p:sp>
        <p:nvSpPr>
          <p:cNvPr id="2058" name="Text Box 13"/>
          <p:cNvSpPr txBox="1">
            <a:spLocks noChangeArrowheads="1"/>
          </p:cNvSpPr>
          <p:nvPr/>
        </p:nvSpPr>
        <p:spPr bwMode="auto">
          <a:xfrm>
            <a:off x="1054100" y="4760913"/>
            <a:ext cx="25019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US" b="1"/>
              <a:t> What parts built</a:t>
            </a:r>
            <a:br>
              <a:rPr lang="en-US" b="1"/>
            </a:br>
            <a:r>
              <a:rPr lang="en-US" b="1"/>
              <a:t>  by modeler vs.</a:t>
            </a:r>
            <a:br>
              <a:rPr lang="en-US" b="1"/>
            </a:br>
            <a:r>
              <a:rPr lang="en-US" b="1"/>
              <a:t>  Commercial parts</a:t>
            </a:r>
          </a:p>
        </p:txBody>
      </p:sp>
      <p:sp>
        <p:nvSpPr>
          <p:cNvPr id="133135" name="Rectangle 15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4432300" cy="3683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1800" i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Judging National Model Contest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3"/>
          <p:cNvSpPr>
            <a:spLocks noChangeArrowheads="1"/>
          </p:cNvSpPr>
          <p:nvPr/>
        </p:nvSpPr>
        <p:spPr bwMode="auto">
          <a:xfrm rot="-2451815">
            <a:off x="4179888" y="5059363"/>
            <a:ext cx="4240212" cy="1778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/>
            <a:r>
              <a:rPr lang="en-US" sz="1000"/>
              <a:t>Merit Level</a:t>
            </a:r>
          </a:p>
        </p:txBody>
      </p:sp>
      <p:sp>
        <p:nvSpPr>
          <p:cNvPr id="3076" name="Rectangle 2"/>
          <p:cNvSpPr>
            <a:spLocks noChangeArrowheads="1"/>
          </p:cNvSpPr>
          <p:nvPr/>
        </p:nvSpPr>
        <p:spPr bwMode="auto">
          <a:xfrm>
            <a:off x="1143000" y="1778000"/>
            <a:ext cx="7467600" cy="6731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2339" name="Text Box 3"/>
          <p:cNvSpPr txBox="1">
            <a:spLocks noChangeArrowheads="1"/>
          </p:cNvSpPr>
          <p:nvPr/>
        </p:nvSpPr>
        <p:spPr bwMode="auto">
          <a:xfrm>
            <a:off x="1079500" y="955675"/>
            <a:ext cx="72374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800">
                <a:solidFill>
                  <a:schemeClr val="accent2"/>
                </a:solidFill>
                <a:latin typeface="Arial Black" pitchFamily="34" charset="0"/>
              </a:rPr>
              <a:t>How does the Judging Matrix work</a:t>
            </a:r>
            <a:r>
              <a:rPr lang="en-US">
                <a:solidFill>
                  <a:schemeClr val="accent2"/>
                </a:solidFill>
              </a:rPr>
              <a:t> </a:t>
            </a:r>
            <a:r>
              <a:rPr lang="en-US" sz="2800">
                <a:solidFill>
                  <a:schemeClr val="accent2"/>
                </a:solidFill>
                <a:latin typeface="Arial Black" pitchFamily="34" charset="0"/>
              </a:rPr>
              <a:t>?</a:t>
            </a:r>
          </a:p>
        </p:txBody>
      </p:sp>
      <p:sp>
        <p:nvSpPr>
          <p:cNvPr id="3078" name="Text Box 4"/>
          <p:cNvSpPr txBox="1">
            <a:spLocks noChangeArrowheads="1"/>
          </p:cNvSpPr>
          <p:nvPr/>
        </p:nvSpPr>
        <p:spPr bwMode="auto">
          <a:xfrm>
            <a:off x="1143000" y="1752600"/>
            <a:ext cx="75438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b="1"/>
              <a:t>Each of five factors are judged based on a matrix which strikes a balance between complexity &amp; quality or quantity</a:t>
            </a:r>
          </a:p>
          <a:p>
            <a:pPr>
              <a:spcBef>
                <a:spcPct val="20000"/>
              </a:spcBef>
            </a:pPr>
            <a:endParaRPr lang="en-US" b="1"/>
          </a:p>
        </p:txBody>
      </p:sp>
      <p:grpSp>
        <p:nvGrpSpPr>
          <p:cNvPr id="3079" name="Group 20"/>
          <p:cNvGrpSpPr>
            <a:grpSpLocks/>
          </p:cNvGrpSpPr>
          <p:nvPr/>
        </p:nvGrpSpPr>
        <p:grpSpPr bwMode="auto">
          <a:xfrm>
            <a:off x="1111250" y="2814638"/>
            <a:ext cx="7610475" cy="3676650"/>
            <a:chOff x="700" y="1637"/>
            <a:chExt cx="4794" cy="2316"/>
          </a:xfrm>
        </p:grpSpPr>
        <p:graphicFrame>
          <p:nvGraphicFramePr>
            <p:cNvPr id="3074" name="Object 6"/>
            <p:cNvGraphicFramePr>
              <a:graphicFrameLocks noChangeAspect="1"/>
            </p:cNvGraphicFramePr>
            <p:nvPr/>
          </p:nvGraphicFramePr>
          <p:xfrm>
            <a:off x="1459" y="2293"/>
            <a:ext cx="3126" cy="1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5" name="Worksheet" r:id="rId3" imgW="5861160" imgH="3071160" progId="Excel.Sheet.8">
                    <p:embed/>
                  </p:oleObj>
                </mc:Choice>
                <mc:Fallback>
                  <p:oleObj name="Worksheet" r:id="rId3" imgW="5861160" imgH="3071160" progId="Excel.Sheet.8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9" y="2293"/>
                          <a:ext cx="3126" cy="16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2" name="Rectangle 7"/>
            <p:cNvSpPr>
              <a:spLocks noChangeArrowheads="1"/>
            </p:cNvSpPr>
            <p:nvPr/>
          </p:nvSpPr>
          <p:spPr bwMode="auto">
            <a:xfrm>
              <a:off x="1458" y="2293"/>
              <a:ext cx="3123" cy="162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3" name="Text Box 8"/>
            <p:cNvSpPr txBox="1">
              <a:spLocks noChangeArrowheads="1"/>
            </p:cNvSpPr>
            <p:nvPr/>
          </p:nvSpPr>
          <p:spPr bwMode="auto">
            <a:xfrm>
              <a:off x="1392" y="2104"/>
              <a:ext cx="37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b="1"/>
                <a:t>Poor</a:t>
              </a:r>
            </a:p>
          </p:txBody>
        </p:sp>
        <p:sp>
          <p:nvSpPr>
            <p:cNvPr id="3084" name="Text Box 9"/>
            <p:cNvSpPr txBox="1">
              <a:spLocks noChangeArrowheads="1"/>
            </p:cNvSpPr>
            <p:nvPr/>
          </p:nvSpPr>
          <p:spPr bwMode="auto">
            <a:xfrm>
              <a:off x="3900" y="2090"/>
              <a:ext cx="74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400" b="1"/>
                <a:t>Exceptional</a:t>
              </a:r>
            </a:p>
          </p:txBody>
        </p:sp>
        <p:sp>
          <p:nvSpPr>
            <p:cNvPr id="3085" name="Text Box 10"/>
            <p:cNvSpPr txBox="1">
              <a:spLocks noChangeArrowheads="1"/>
            </p:cNvSpPr>
            <p:nvPr/>
          </p:nvSpPr>
          <p:spPr bwMode="auto">
            <a:xfrm>
              <a:off x="2661" y="2104"/>
              <a:ext cx="407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b="1"/>
                <a:t>Good</a:t>
              </a:r>
            </a:p>
          </p:txBody>
        </p:sp>
        <p:sp>
          <p:nvSpPr>
            <p:cNvPr id="3086" name="Text Box 11"/>
            <p:cNvSpPr txBox="1">
              <a:spLocks noChangeArrowheads="1"/>
            </p:cNvSpPr>
            <p:nvPr/>
          </p:nvSpPr>
          <p:spPr bwMode="auto">
            <a:xfrm rot="-5400000">
              <a:off x="940" y="3426"/>
              <a:ext cx="86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b="1"/>
                <a:t>Very Complex</a:t>
              </a:r>
            </a:p>
          </p:txBody>
        </p:sp>
        <p:sp>
          <p:nvSpPr>
            <p:cNvPr id="3087" name="Text Box 12"/>
            <p:cNvSpPr txBox="1">
              <a:spLocks noChangeArrowheads="1"/>
            </p:cNvSpPr>
            <p:nvPr/>
          </p:nvSpPr>
          <p:spPr bwMode="auto">
            <a:xfrm rot="-5375382">
              <a:off x="1123" y="2367"/>
              <a:ext cx="483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400" b="1"/>
                <a:t>Simple</a:t>
              </a:r>
            </a:p>
          </p:txBody>
        </p:sp>
        <p:sp>
          <p:nvSpPr>
            <p:cNvPr id="3088" name="Line 13"/>
            <p:cNvSpPr>
              <a:spLocks noChangeShapeType="1"/>
            </p:cNvSpPr>
            <p:nvPr/>
          </p:nvSpPr>
          <p:spPr bwMode="auto">
            <a:xfrm>
              <a:off x="1764" y="2194"/>
              <a:ext cx="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lg"/>
              <a:tailEnd type="triangle" w="sm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9" name="Line 14"/>
            <p:cNvSpPr>
              <a:spLocks noChangeShapeType="1"/>
            </p:cNvSpPr>
            <p:nvPr/>
          </p:nvSpPr>
          <p:spPr bwMode="auto">
            <a:xfrm>
              <a:off x="3042" y="2194"/>
              <a:ext cx="8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lg"/>
              <a:tailEnd type="triangle" w="sm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0" name="Line 15"/>
            <p:cNvSpPr>
              <a:spLocks noChangeShapeType="1"/>
            </p:cNvSpPr>
            <p:nvPr/>
          </p:nvSpPr>
          <p:spPr bwMode="auto">
            <a:xfrm>
              <a:off x="1368" y="2689"/>
              <a:ext cx="0" cy="4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lg"/>
              <a:tailEnd type="triangle" w="sm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1" name="Text Box 16"/>
            <p:cNvSpPr txBox="1">
              <a:spLocks noChangeArrowheads="1"/>
            </p:cNvSpPr>
            <p:nvPr/>
          </p:nvSpPr>
          <p:spPr bwMode="auto">
            <a:xfrm>
              <a:off x="1919" y="1865"/>
              <a:ext cx="198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b="1"/>
                <a:t>Quality &amp; Craftsmanship</a:t>
              </a:r>
            </a:p>
          </p:txBody>
        </p:sp>
        <p:sp>
          <p:nvSpPr>
            <p:cNvPr id="3092" name="Text Box 17"/>
            <p:cNvSpPr txBox="1">
              <a:spLocks noChangeArrowheads="1"/>
            </p:cNvSpPr>
            <p:nvPr/>
          </p:nvSpPr>
          <p:spPr bwMode="auto">
            <a:xfrm rot="-5400000">
              <a:off x="662" y="2918"/>
              <a:ext cx="97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/>
                <a:t>Complexity</a:t>
              </a:r>
            </a:p>
          </p:txBody>
        </p:sp>
        <p:sp>
          <p:nvSpPr>
            <p:cNvPr id="3093" name="Text Box 18"/>
            <p:cNvSpPr txBox="1">
              <a:spLocks noChangeArrowheads="1"/>
            </p:cNvSpPr>
            <p:nvPr/>
          </p:nvSpPr>
          <p:spPr bwMode="auto">
            <a:xfrm>
              <a:off x="700" y="1637"/>
              <a:ext cx="479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 b="1">
                  <a:latin typeface="Arial Black" pitchFamily="34" charset="0"/>
                </a:rPr>
                <a:t>Construction Factor </a:t>
              </a:r>
              <a:r>
                <a:rPr lang="en-US">
                  <a:latin typeface="Arial Black" pitchFamily="34" charset="0"/>
                </a:rPr>
                <a:t>(40 pts. Total – 28 pts. Merit)</a:t>
              </a:r>
            </a:p>
          </p:txBody>
        </p:sp>
      </p:grpSp>
      <p:sp>
        <p:nvSpPr>
          <p:cNvPr id="142355" name="Rectangle 19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5156200" cy="3683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2000" i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Judging National Model Contest</a:t>
            </a:r>
          </a:p>
        </p:txBody>
      </p:sp>
      <p:sp>
        <p:nvSpPr>
          <p:cNvPr id="3081" name="Text Box 22"/>
          <p:cNvSpPr txBox="1">
            <a:spLocks noChangeArrowheads="1"/>
          </p:cNvSpPr>
          <p:nvPr/>
        </p:nvSpPr>
        <p:spPr bwMode="auto">
          <a:xfrm>
            <a:off x="3806825" y="2487613"/>
            <a:ext cx="16652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For example,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Text Box 4"/>
          <p:cNvSpPr txBox="1">
            <a:spLocks noChangeArrowheads="1"/>
          </p:cNvSpPr>
          <p:nvPr/>
        </p:nvSpPr>
        <p:spPr bwMode="auto">
          <a:xfrm>
            <a:off x="1139825" y="952500"/>
            <a:ext cx="6667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400">
                <a:solidFill>
                  <a:schemeClr val="accent2"/>
                </a:solidFill>
                <a:latin typeface="Arial Black" pitchFamily="34" charset="0"/>
              </a:rPr>
              <a:t>How Did This Small Section House Do?</a:t>
            </a:r>
          </a:p>
        </p:txBody>
      </p:sp>
      <p:grpSp>
        <p:nvGrpSpPr>
          <p:cNvPr id="17411" name="Group 87"/>
          <p:cNvGrpSpPr>
            <a:grpSpLocks/>
          </p:cNvGrpSpPr>
          <p:nvPr/>
        </p:nvGrpSpPr>
        <p:grpSpPr bwMode="auto">
          <a:xfrm>
            <a:off x="1231900" y="1520825"/>
            <a:ext cx="7269163" cy="4957763"/>
            <a:chOff x="672" y="1062"/>
            <a:chExt cx="4579" cy="3123"/>
          </a:xfrm>
        </p:grpSpPr>
        <p:sp>
          <p:nvSpPr>
            <p:cNvPr id="17414" name="Rectangle 84"/>
            <p:cNvSpPr>
              <a:spLocks noChangeArrowheads="1"/>
            </p:cNvSpPr>
            <p:nvPr/>
          </p:nvSpPr>
          <p:spPr bwMode="auto">
            <a:xfrm rot="-2451815">
              <a:off x="3411" y="3309"/>
              <a:ext cx="1831" cy="93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r"/>
              <a:endParaRPr lang="en-US" sz="1000"/>
            </a:p>
          </p:txBody>
        </p:sp>
        <p:pic>
          <p:nvPicPr>
            <p:cNvPr id="17415" name="Picture 38" descr="Section Hse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72" y="1062"/>
              <a:ext cx="2352" cy="17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416" name="Rectangle 86"/>
            <p:cNvSpPr>
              <a:spLocks noChangeArrowheads="1"/>
            </p:cNvSpPr>
            <p:nvPr/>
          </p:nvSpPr>
          <p:spPr bwMode="auto">
            <a:xfrm>
              <a:off x="2196" y="2508"/>
              <a:ext cx="852" cy="330"/>
            </a:xfrm>
            <a:prstGeom prst="rect">
              <a:avLst/>
            </a:prstGeom>
            <a:solidFill>
              <a:srgbClr val="EAEAEA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17" name="Rectangle 85"/>
            <p:cNvSpPr>
              <a:spLocks noChangeArrowheads="1"/>
            </p:cNvSpPr>
            <p:nvPr/>
          </p:nvSpPr>
          <p:spPr bwMode="auto">
            <a:xfrm>
              <a:off x="3018" y="1752"/>
              <a:ext cx="1836" cy="75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18" name="Rectangle 80"/>
            <p:cNvSpPr>
              <a:spLocks noChangeArrowheads="1"/>
            </p:cNvSpPr>
            <p:nvPr/>
          </p:nvSpPr>
          <p:spPr bwMode="auto">
            <a:xfrm>
              <a:off x="768" y="2808"/>
              <a:ext cx="1434" cy="728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17419" name="AutoShape 67"/>
            <p:cNvSpPr>
              <a:spLocks noChangeArrowheads="1"/>
            </p:cNvSpPr>
            <p:nvPr/>
          </p:nvSpPr>
          <p:spPr bwMode="auto">
            <a:xfrm rot="5400000">
              <a:off x="1884" y="2800"/>
              <a:ext cx="320" cy="288"/>
            </a:xfrm>
            <a:custGeom>
              <a:avLst/>
              <a:gdLst>
                <a:gd name="T0" fmla="*/ 3 w 21600"/>
                <a:gd name="T1" fmla="*/ 0 h 21600"/>
                <a:gd name="T2" fmla="*/ 2 w 21600"/>
                <a:gd name="T3" fmla="*/ 1 h 21600"/>
                <a:gd name="T4" fmla="*/ 0 w 21600"/>
                <a:gd name="T5" fmla="*/ 3 h 21600"/>
                <a:gd name="T6" fmla="*/ 2 w 21600"/>
                <a:gd name="T7" fmla="*/ 4 h 21600"/>
                <a:gd name="T8" fmla="*/ 4 w 21600"/>
                <a:gd name="T9" fmla="*/ 3 h 21600"/>
                <a:gd name="T10" fmla="*/ 5 w 21600"/>
                <a:gd name="T11" fmla="*/ 1 h 21600"/>
                <a:gd name="T12" fmla="*/ 17694720 60000 65536"/>
                <a:gd name="T13" fmla="*/ 11796480 60000 65536"/>
                <a:gd name="T14" fmla="*/ 11796480 60000 65536"/>
                <a:gd name="T15" fmla="*/ 5898240 60000 65536"/>
                <a:gd name="T16" fmla="*/ 0 60000 65536"/>
                <a:gd name="T17" fmla="*/ 0 60000 65536"/>
                <a:gd name="T18" fmla="*/ 0 w 21600"/>
                <a:gd name="T19" fmla="*/ 14400 h 21600"/>
                <a:gd name="T20" fmla="*/ 18495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5429" y="0"/>
                  </a:moveTo>
                  <a:lnTo>
                    <a:pt x="9257" y="7200"/>
                  </a:lnTo>
                  <a:lnTo>
                    <a:pt x="12343" y="7200"/>
                  </a:lnTo>
                  <a:lnTo>
                    <a:pt x="12343" y="14400"/>
                  </a:lnTo>
                  <a:lnTo>
                    <a:pt x="0" y="14400"/>
                  </a:lnTo>
                  <a:lnTo>
                    <a:pt x="0" y="21600"/>
                  </a:lnTo>
                  <a:lnTo>
                    <a:pt x="18514" y="21600"/>
                  </a:lnTo>
                  <a:lnTo>
                    <a:pt x="18514" y="7200"/>
                  </a:lnTo>
                  <a:lnTo>
                    <a:pt x="21600" y="7200"/>
                  </a:lnTo>
                  <a:close/>
                </a:path>
              </a:pathLst>
            </a:custGeom>
            <a:solidFill>
              <a:srgbClr val="FF33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7420" name="Group 71"/>
            <p:cNvGrpSpPr>
              <a:grpSpLocks/>
            </p:cNvGrpSpPr>
            <p:nvPr/>
          </p:nvGrpSpPr>
          <p:grpSpPr bwMode="auto">
            <a:xfrm>
              <a:off x="3028" y="2220"/>
              <a:ext cx="1366" cy="288"/>
              <a:chOff x="2928" y="2180"/>
              <a:chExt cx="1744" cy="288"/>
            </a:xfrm>
          </p:grpSpPr>
          <p:sp>
            <p:nvSpPr>
              <p:cNvPr id="17424" name="AutoShape 68"/>
              <p:cNvSpPr>
                <a:spLocks noChangeArrowheads="1"/>
              </p:cNvSpPr>
              <p:nvPr/>
            </p:nvSpPr>
            <p:spPr bwMode="auto">
              <a:xfrm rot="10800000" flipH="1">
                <a:off x="4320" y="2180"/>
                <a:ext cx="352" cy="288"/>
              </a:xfrm>
              <a:custGeom>
                <a:avLst/>
                <a:gdLst>
                  <a:gd name="T0" fmla="*/ 4 w 21600"/>
                  <a:gd name="T1" fmla="*/ 0 h 21600"/>
                  <a:gd name="T2" fmla="*/ 2 w 21600"/>
                  <a:gd name="T3" fmla="*/ 1 h 21600"/>
                  <a:gd name="T4" fmla="*/ 0 w 21600"/>
                  <a:gd name="T5" fmla="*/ 3 h 21600"/>
                  <a:gd name="T6" fmla="*/ 2 w 21600"/>
                  <a:gd name="T7" fmla="*/ 4 h 21600"/>
                  <a:gd name="T8" fmla="*/ 5 w 21600"/>
                  <a:gd name="T9" fmla="*/ 3 h 21600"/>
                  <a:gd name="T10" fmla="*/ 6 w 21600"/>
                  <a:gd name="T11" fmla="*/ 1 h 21600"/>
                  <a:gd name="T12" fmla="*/ 17694720 60000 65536"/>
                  <a:gd name="T13" fmla="*/ 11796480 60000 65536"/>
                  <a:gd name="T14" fmla="*/ 11796480 60000 65536"/>
                  <a:gd name="T15" fmla="*/ 5898240 60000 65536"/>
                  <a:gd name="T16" fmla="*/ 0 60000 65536"/>
                  <a:gd name="T17" fmla="*/ 0 60000 65536"/>
                  <a:gd name="T18" fmla="*/ 0 w 21600"/>
                  <a:gd name="T19" fmla="*/ 14400 h 21600"/>
                  <a:gd name="T20" fmla="*/ 18532 w 21600"/>
                  <a:gd name="T21" fmla="*/ 21600 h 2160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600" h="21600">
                    <a:moveTo>
                      <a:pt x="15429" y="0"/>
                    </a:moveTo>
                    <a:lnTo>
                      <a:pt x="9257" y="7200"/>
                    </a:lnTo>
                    <a:lnTo>
                      <a:pt x="12343" y="7200"/>
                    </a:lnTo>
                    <a:lnTo>
                      <a:pt x="12343" y="14400"/>
                    </a:lnTo>
                    <a:lnTo>
                      <a:pt x="0" y="14400"/>
                    </a:lnTo>
                    <a:lnTo>
                      <a:pt x="0" y="21600"/>
                    </a:lnTo>
                    <a:lnTo>
                      <a:pt x="18514" y="21600"/>
                    </a:lnTo>
                    <a:lnTo>
                      <a:pt x="18514" y="7200"/>
                    </a:lnTo>
                    <a:lnTo>
                      <a:pt x="21600" y="7200"/>
                    </a:lnTo>
                    <a:close/>
                  </a:path>
                </a:pathLst>
              </a:custGeom>
              <a:solidFill>
                <a:srgbClr val="00CC6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25" name="Rectangle 69"/>
              <p:cNvSpPr>
                <a:spLocks noChangeArrowheads="1"/>
              </p:cNvSpPr>
              <p:nvPr/>
            </p:nvSpPr>
            <p:spPr bwMode="auto">
              <a:xfrm>
                <a:off x="2928" y="2180"/>
                <a:ext cx="1400" cy="96"/>
              </a:xfrm>
              <a:prstGeom prst="rect">
                <a:avLst/>
              </a:prstGeom>
              <a:solidFill>
                <a:srgbClr val="00CC6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26" name="Rectangle 70"/>
              <p:cNvSpPr>
                <a:spLocks noChangeArrowheads="1"/>
              </p:cNvSpPr>
              <p:nvPr/>
            </p:nvSpPr>
            <p:spPr bwMode="auto">
              <a:xfrm>
                <a:off x="4276" y="2192"/>
                <a:ext cx="100" cy="76"/>
              </a:xfrm>
              <a:prstGeom prst="rect">
                <a:avLst/>
              </a:prstGeom>
              <a:solidFill>
                <a:srgbClr val="00CC66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pic>
          <p:nvPicPr>
            <p:cNvPr id="17421" name="Picture 7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141" y="2446"/>
              <a:ext cx="3110" cy="17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422" name="Text Box 78"/>
            <p:cNvSpPr txBox="1">
              <a:spLocks noChangeArrowheads="1"/>
            </p:cNvSpPr>
            <p:nvPr/>
          </p:nvSpPr>
          <p:spPr bwMode="auto">
            <a:xfrm>
              <a:off x="3067" y="1759"/>
              <a:ext cx="1813" cy="3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800" b="1" u="sng"/>
                <a:t>Quality &amp; Craftsmanship</a:t>
              </a:r>
            </a:p>
            <a:p>
              <a:pPr algn="ctr"/>
              <a:r>
                <a:rPr lang="en-US" sz="1600" b="1" i="1"/>
                <a:t>Very good to excellent</a:t>
              </a:r>
            </a:p>
          </p:txBody>
        </p:sp>
        <p:sp>
          <p:nvSpPr>
            <p:cNvPr id="17423" name="Text Box 79"/>
            <p:cNvSpPr txBox="1">
              <a:spLocks noChangeArrowheads="1"/>
            </p:cNvSpPr>
            <p:nvPr/>
          </p:nvSpPr>
          <p:spPr bwMode="auto">
            <a:xfrm>
              <a:off x="886" y="2898"/>
              <a:ext cx="1113" cy="5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800" b="1" u="sng"/>
                <a:t>Complexity</a:t>
              </a:r>
              <a:r>
                <a:rPr lang="en-US" sz="1800" b="1"/>
                <a:t>  </a:t>
              </a:r>
            </a:p>
            <a:p>
              <a:pPr algn="ctr"/>
              <a:r>
                <a:rPr lang="en-US" sz="1600" b="1" i="1"/>
                <a:t>Relatively small</a:t>
              </a:r>
            </a:p>
            <a:p>
              <a:pPr algn="ctr"/>
              <a:r>
                <a:rPr lang="en-US" sz="1600" b="1" i="1"/>
                <a:t>simple structure</a:t>
              </a:r>
            </a:p>
          </p:txBody>
        </p:sp>
      </p:grpSp>
      <p:sp>
        <p:nvSpPr>
          <p:cNvPr id="31827" name="Rectangle 83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4457700" cy="3683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1800" i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Judging National Model Contest</a:t>
            </a:r>
          </a:p>
        </p:txBody>
      </p:sp>
      <p:sp>
        <p:nvSpPr>
          <p:cNvPr id="31832" name="Text Box 88"/>
          <p:cNvSpPr txBox="1">
            <a:spLocks noChangeArrowheads="1"/>
          </p:cNvSpPr>
          <p:nvPr/>
        </p:nvSpPr>
        <p:spPr bwMode="auto">
          <a:xfrm>
            <a:off x="5165725" y="1636713"/>
            <a:ext cx="3422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3806097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solidFill>
                  <a:schemeClr val="accent2"/>
                </a:solidFill>
              </a:rPr>
              <a:t>(40 pts. Total – 28 pts. Merit)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"/>
          <p:cNvSpPr>
            <a:spLocks noChangeArrowheads="1"/>
          </p:cNvSpPr>
          <p:nvPr/>
        </p:nvSpPr>
        <p:spPr bwMode="auto">
          <a:xfrm>
            <a:off x="1168400" y="1816100"/>
            <a:ext cx="7289800" cy="5969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i="1">
                <a:latin typeface="Arial Black" pitchFamily="34" charset="0"/>
              </a:rPr>
              <a:t>Focus - quality, craftsmanship, modeling skill and</a:t>
            </a:r>
            <a:br>
              <a:rPr lang="en-US" i="1">
                <a:latin typeface="Arial Black" pitchFamily="34" charset="0"/>
              </a:rPr>
            </a:br>
            <a:r>
              <a:rPr lang="en-US" i="1">
                <a:latin typeface="Arial Black" pitchFamily="34" charset="0"/>
              </a:rPr>
              <a:t>execution, proper handling of materials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7892" name="Text Box 4"/>
          <p:cNvSpPr txBox="1">
            <a:spLocks noChangeArrowheads="1"/>
          </p:cNvSpPr>
          <p:nvPr/>
        </p:nvSpPr>
        <p:spPr bwMode="auto">
          <a:xfrm>
            <a:off x="1047750" y="749300"/>
            <a:ext cx="6781800" cy="884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solidFill>
                  <a:schemeClr val="accent2"/>
                </a:solidFill>
                <a:latin typeface="Arial Black" pitchFamily="34" charset="0"/>
              </a:rPr>
              <a:t>Back to the Factors…</a:t>
            </a:r>
          </a:p>
          <a:p>
            <a:pPr>
              <a:defRPr/>
            </a:pPr>
            <a:r>
              <a:rPr lang="en-US" sz="2800">
                <a:solidFill>
                  <a:schemeClr val="accent2"/>
                </a:solidFill>
                <a:latin typeface="Arial Black" pitchFamily="34" charset="0"/>
              </a:rPr>
              <a:t>Construction</a:t>
            </a:r>
            <a:r>
              <a:rPr lang="en-US" sz="2400">
                <a:solidFill>
                  <a:schemeClr val="accent2"/>
                </a:solidFill>
                <a:latin typeface="Arial Black" pitchFamily="34" charset="0"/>
              </a:rPr>
              <a:t> </a:t>
            </a:r>
            <a:r>
              <a:rPr lang="en-US">
                <a:solidFill>
                  <a:schemeClr val="accent2"/>
                </a:solidFill>
                <a:latin typeface="Arial Black" pitchFamily="34" charset="0"/>
              </a:rPr>
              <a:t>(40 pts. Total – 28 pts. Merit)</a:t>
            </a:r>
          </a:p>
        </p:txBody>
      </p:sp>
      <p:sp>
        <p:nvSpPr>
          <p:cNvPr id="18436" name="Text Box 7"/>
          <p:cNvSpPr txBox="1">
            <a:spLocks noChangeArrowheads="1"/>
          </p:cNvSpPr>
          <p:nvPr/>
        </p:nvSpPr>
        <p:spPr bwMode="auto">
          <a:xfrm>
            <a:off x="1076325" y="2224088"/>
            <a:ext cx="2730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endParaRPr lang="en-US">
              <a:latin typeface="Times New Roman" pitchFamily="18" charset="0"/>
            </a:endParaRPr>
          </a:p>
        </p:txBody>
      </p:sp>
      <p:sp>
        <p:nvSpPr>
          <p:cNvPr id="18437" name="Text Box 8"/>
          <p:cNvSpPr txBox="1">
            <a:spLocks noChangeArrowheads="1"/>
          </p:cNvSpPr>
          <p:nvPr/>
        </p:nvSpPr>
        <p:spPr bwMode="auto">
          <a:xfrm>
            <a:off x="1025525" y="2224088"/>
            <a:ext cx="18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18438" name="Text Box 9"/>
          <p:cNvSpPr txBox="1">
            <a:spLocks noChangeArrowheads="1"/>
          </p:cNvSpPr>
          <p:nvPr/>
        </p:nvSpPr>
        <p:spPr bwMode="auto">
          <a:xfrm>
            <a:off x="1114425" y="2500313"/>
            <a:ext cx="7237413" cy="356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Method of fabrication or choice of materials </a:t>
            </a:r>
            <a:r>
              <a:rPr lang="en-US" u="sng"/>
              <a:t>not</a:t>
            </a:r>
            <a:r>
              <a:rPr lang="en-US"/>
              <a:t> important</a:t>
            </a:r>
          </a:p>
          <a:p>
            <a:pPr>
              <a:buFontTx/>
              <a:buChar char="•"/>
            </a:pPr>
            <a:r>
              <a:rPr lang="en-US"/>
              <a:t> Work done by modeler very important and dependent on type</a:t>
            </a:r>
            <a:br>
              <a:rPr lang="en-US"/>
            </a:br>
            <a:r>
              <a:rPr lang="en-US"/>
              <a:t>  or basis of model</a:t>
            </a:r>
          </a:p>
          <a:p>
            <a:pPr lvl="1">
              <a:buFontTx/>
              <a:buChar char="•"/>
            </a:pPr>
            <a:r>
              <a:rPr lang="en-US"/>
              <a:t> </a:t>
            </a:r>
            <a:r>
              <a:rPr lang="en-US" sz="1800"/>
              <a:t>Scratchbuilt		high range scores</a:t>
            </a:r>
          </a:p>
          <a:p>
            <a:pPr lvl="1">
              <a:buFontTx/>
              <a:buChar char="•"/>
            </a:pPr>
            <a:r>
              <a:rPr lang="en-US" sz="1800"/>
              <a:t> Modified kits	mid to high range scores</a:t>
            </a:r>
          </a:p>
          <a:p>
            <a:pPr lvl="1">
              <a:buFontTx/>
              <a:buChar char="•"/>
            </a:pPr>
            <a:r>
              <a:rPr lang="en-US" sz="1800"/>
              <a:t> Modified R-t-R	mid to high range scores</a:t>
            </a:r>
          </a:p>
          <a:p>
            <a:pPr lvl="1">
              <a:buFontTx/>
              <a:buChar char="•"/>
            </a:pPr>
            <a:r>
              <a:rPr lang="en-US" sz="1800"/>
              <a:t> Stick kits		high mid range scores</a:t>
            </a:r>
          </a:p>
          <a:p>
            <a:pPr lvl="1">
              <a:buFontTx/>
              <a:buChar char="•"/>
            </a:pPr>
            <a:r>
              <a:rPr lang="en-US" sz="1800"/>
              <a:t> Plastic kits		low mid range scores </a:t>
            </a:r>
          </a:p>
          <a:p>
            <a:pPr lvl="1">
              <a:buFontTx/>
              <a:buChar char="•"/>
            </a:pPr>
            <a:r>
              <a:rPr lang="en-US" sz="1800"/>
              <a:t> Ready-to-run	low range scores</a:t>
            </a:r>
            <a:br>
              <a:rPr lang="en-US" sz="1800"/>
            </a:br>
            <a:endParaRPr lang="en-US" sz="1800"/>
          </a:p>
          <a:p>
            <a:pPr>
              <a:buFontTx/>
              <a:buChar char="•"/>
            </a:pPr>
            <a:r>
              <a:rPr lang="en-US"/>
              <a:t> Complexity or scope of model also important (see matrix)</a:t>
            </a:r>
          </a:p>
          <a:p>
            <a:r>
              <a:rPr lang="en-US"/>
              <a:t> </a:t>
            </a:r>
          </a:p>
        </p:txBody>
      </p:sp>
      <p:sp>
        <p:nvSpPr>
          <p:cNvPr id="37901" name="Rectangle 13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4381500" cy="3683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1800" i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Judging National Model Contest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1104900" y="968375"/>
            <a:ext cx="50117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800" b="1">
                <a:solidFill>
                  <a:schemeClr val="accent2"/>
                </a:solidFill>
              </a:rPr>
              <a:t>Quality aspects to look for…</a:t>
            </a:r>
          </a:p>
        </p:txBody>
      </p:sp>
      <p:sp>
        <p:nvSpPr>
          <p:cNvPr id="19459" name="Text Box 7"/>
          <p:cNvSpPr txBox="1">
            <a:spLocks noChangeArrowheads="1"/>
          </p:cNvSpPr>
          <p:nvPr/>
        </p:nvSpPr>
        <p:spPr bwMode="auto">
          <a:xfrm>
            <a:off x="1431925" y="22510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2400">
              <a:latin typeface="Times New Roman" pitchFamily="18" charset="0"/>
            </a:endParaRPr>
          </a:p>
        </p:txBody>
      </p:sp>
      <p:sp>
        <p:nvSpPr>
          <p:cNvPr id="19460" name="Text Box 8"/>
          <p:cNvSpPr txBox="1">
            <a:spLocks noChangeArrowheads="1"/>
          </p:cNvSpPr>
          <p:nvPr/>
        </p:nvSpPr>
        <p:spPr bwMode="auto">
          <a:xfrm>
            <a:off x="1174750" y="1781175"/>
            <a:ext cx="7427913" cy="301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sz="2400">
                <a:latin typeface="Times New Roman" pitchFamily="18" charset="0"/>
              </a:rPr>
              <a:t> </a:t>
            </a:r>
            <a:r>
              <a:rPr lang="en-US" sz="2400">
                <a:cs typeface="Arial" charset="0"/>
              </a:rPr>
              <a:t>Overall quality of assembly</a:t>
            </a:r>
            <a:endParaRPr lang="en-US" sz="2400">
              <a:latin typeface="Times New Roman" pitchFamily="18" charset="0"/>
            </a:endParaRPr>
          </a:p>
          <a:p>
            <a:pPr>
              <a:buFontTx/>
              <a:buChar char="•"/>
            </a:pPr>
            <a:r>
              <a:rPr lang="en-US" sz="2400">
                <a:cs typeface="Arial" charset="0"/>
              </a:rPr>
              <a:t> Neatness of glued parts, absence of any visible glue</a:t>
            </a:r>
            <a:endParaRPr lang="en-US" sz="2400">
              <a:latin typeface="Times New Roman" pitchFamily="18" charset="0"/>
            </a:endParaRPr>
          </a:p>
          <a:p>
            <a:pPr>
              <a:buFontTx/>
              <a:buChar char="•"/>
            </a:pPr>
            <a:r>
              <a:rPr lang="en-US" sz="2400">
                <a:cs typeface="Arial" charset="0"/>
              </a:rPr>
              <a:t> Fit of parts, no open joints, no bowing or warpage</a:t>
            </a:r>
          </a:p>
          <a:p>
            <a:pPr>
              <a:buFontTx/>
              <a:buChar char="•"/>
            </a:pPr>
            <a:r>
              <a:rPr lang="en-US" sz="2400">
                <a:cs typeface="Arial" charset="0"/>
              </a:rPr>
              <a:t> Square corners, straight lines</a:t>
            </a:r>
          </a:p>
          <a:p>
            <a:pPr>
              <a:buFontTx/>
              <a:buChar char="•"/>
            </a:pPr>
            <a:r>
              <a:rPr lang="en-US" sz="2400">
                <a:cs typeface="Arial" charset="0"/>
              </a:rPr>
              <a:t> Evenness,matching ends</a:t>
            </a:r>
            <a:endParaRPr lang="en-US" sz="2400">
              <a:latin typeface="Times New Roman" pitchFamily="18" charset="0"/>
            </a:endParaRPr>
          </a:p>
          <a:p>
            <a:pPr>
              <a:buFontTx/>
              <a:buChar char="•"/>
            </a:pPr>
            <a:r>
              <a:rPr lang="en-US" sz="2400">
                <a:cs typeface="Arial" charset="0"/>
              </a:rPr>
              <a:t> Unsanded or fuzzy wood</a:t>
            </a:r>
            <a:endParaRPr lang="en-US" sz="2400">
              <a:latin typeface="Times New Roman" pitchFamily="18" charset="0"/>
            </a:endParaRPr>
          </a:p>
          <a:p>
            <a:pPr>
              <a:buFontTx/>
              <a:buChar char="•"/>
            </a:pPr>
            <a:r>
              <a:rPr lang="en-US" sz="2400">
                <a:cs typeface="Arial" charset="0"/>
              </a:rPr>
              <a:t> Even spacing of grab irons, windows, etc.</a:t>
            </a:r>
            <a:endParaRPr lang="en-US" sz="2400">
              <a:latin typeface="Times New Roman" pitchFamily="18" charset="0"/>
            </a:endParaRPr>
          </a:p>
          <a:p>
            <a:pPr>
              <a:buFontTx/>
              <a:buChar char="•"/>
            </a:pPr>
            <a:r>
              <a:rPr lang="en-US" sz="2400">
                <a:cs typeface="Arial" charset="0"/>
              </a:rPr>
              <a:t> Excess glue or solder, fingerprints, etc.</a:t>
            </a:r>
            <a:r>
              <a:rPr lang="en-US" sz="2400">
                <a:latin typeface="Times New Roman" pitchFamily="18" charset="0"/>
              </a:rPr>
              <a:t> </a:t>
            </a:r>
          </a:p>
        </p:txBody>
      </p:sp>
      <p:sp>
        <p:nvSpPr>
          <p:cNvPr id="38922" name="Rectangle 10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4343400" cy="3683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1800" i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Judging National Model Contest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Text Box 4"/>
          <p:cNvSpPr txBox="1">
            <a:spLocks noChangeArrowheads="1"/>
          </p:cNvSpPr>
          <p:nvPr/>
        </p:nvSpPr>
        <p:spPr bwMode="auto">
          <a:xfrm>
            <a:off x="1049338" y="749300"/>
            <a:ext cx="5567362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solidFill>
                  <a:schemeClr val="accent2"/>
                </a:solidFill>
                <a:latin typeface="Arial Black" pitchFamily="34" charset="0"/>
              </a:rPr>
              <a:t>Here Are Some Examples Where</a:t>
            </a:r>
          </a:p>
          <a:p>
            <a:pPr>
              <a:defRPr/>
            </a:pPr>
            <a:r>
              <a:rPr lang="en-US" sz="2400">
                <a:solidFill>
                  <a:schemeClr val="accent2"/>
                </a:solidFill>
                <a:latin typeface="Arial Black" pitchFamily="34" charset="0"/>
              </a:rPr>
              <a:t>Quality Could Be Improved…</a:t>
            </a:r>
          </a:p>
        </p:txBody>
      </p:sp>
      <p:sp>
        <p:nvSpPr>
          <p:cNvPr id="20483" name="Text Box 6"/>
          <p:cNvSpPr txBox="1">
            <a:spLocks noChangeArrowheads="1"/>
          </p:cNvSpPr>
          <p:nvPr/>
        </p:nvSpPr>
        <p:spPr bwMode="auto">
          <a:xfrm>
            <a:off x="1431925" y="22510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2400">
              <a:latin typeface="Times New Roman" pitchFamily="18" charset="0"/>
            </a:endParaRPr>
          </a:p>
        </p:txBody>
      </p:sp>
      <p:pic>
        <p:nvPicPr>
          <p:cNvPr id="20484" name="Picture 12" descr="Church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552700" y="1751013"/>
            <a:ext cx="4586288" cy="3787775"/>
          </a:xfrm>
          <a:noFill/>
        </p:spPr>
      </p:pic>
      <p:sp>
        <p:nvSpPr>
          <p:cNvPr id="20485" name="Text Box 14"/>
          <p:cNvSpPr txBox="1">
            <a:spLocks noChangeArrowheads="1"/>
          </p:cNvSpPr>
          <p:nvPr/>
        </p:nvSpPr>
        <p:spPr bwMode="auto">
          <a:xfrm>
            <a:off x="1698625" y="5688013"/>
            <a:ext cx="6229350" cy="70167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Neat little church; not a contest model. Lot’s of charm,</a:t>
            </a:r>
          </a:p>
          <a:p>
            <a:r>
              <a:rPr lang="en-US"/>
              <a:t>But some classic construction errors. Let’s zoom in…</a:t>
            </a:r>
          </a:p>
        </p:txBody>
      </p:sp>
      <p:sp>
        <p:nvSpPr>
          <p:cNvPr id="44048" name="Rectangle 16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4762500" cy="3683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1800" i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Judging National Model Contest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998538" y="749300"/>
            <a:ext cx="3975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solidFill>
                  <a:schemeClr val="accent2"/>
                </a:solidFill>
                <a:latin typeface="Arial Black" pitchFamily="34" charset="0"/>
              </a:rPr>
              <a:t>The Neat Little Church</a:t>
            </a:r>
          </a:p>
        </p:txBody>
      </p:sp>
      <p:sp>
        <p:nvSpPr>
          <p:cNvPr id="21507" name="Text Box 6"/>
          <p:cNvSpPr txBox="1">
            <a:spLocks noChangeArrowheads="1"/>
          </p:cNvSpPr>
          <p:nvPr/>
        </p:nvSpPr>
        <p:spPr bwMode="auto">
          <a:xfrm>
            <a:off x="1431925" y="22510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2400">
              <a:latin typeface="Times New Roman" pitchFamily="18" charset="0"/>
            </a:endParaRPr>
          </a:p>
        </p:txBody>
      </p:sp>
      <p:pic>
        <p:nvPicPr>
          <p:cNvPr id="21508" name="Picture 11" descr="Church OA Detail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17600" y="1160463"/>
            <a:ext cx="7366000" cy="5319712"/>
          </a:xfrm>
          <a:noFill/>
        </p:spPr>
      </p:pic>
      <p:sp>
        <p:nvSpPr>
          <p:cNvPr id="21509" name="Text Box 13"/>
          <p:cNvSpPr txBox="1">
            <a:spLocks noChangeArrowheads="1"/>
          </p:cNvSpPr>
          <p:nvPr/>
        </p:nvSpPr>
        <p:spPr bwMode="auto">
          <a:xfrm>
            <a:off x="2790825" y="1484313"/>
            <a:ext cx="1762125" cy="33655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/>
              <a:t>Uneven Siding</a:t>
            </a:r>
          </a:p>
        </p:txBody>
      </p:sp>
      <p:sp>
        <p:nvSpPr>
          <p:cNvPr id="21510" name="Line 14"/>
          <p:cNvSpPr>
            <a:spLocks noChangeShapeType="1"/>
          </p:cNvSpPr>
          <p:nvPr/>
        </p:nvSpPr>
        <p:spPr bwMode="auto">
          <a:xfrm flipH="1">
            <a:off x="1663700" y="1841500"/>
            <a:ext cx="1600200" cy="1130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1511" name="Text Box 15"/>
          <p:cNvSpPr txBox="1">
            <a:spLocks noChangeArrowheads="1"/>
          </p:cNvSpPr>
          <p:nvPr/>
        </p:nvSpPr>
        <p:spPr bwMode="auto">
          <a:xfrm>
            <a:off x="6181725" y="2411413"/>
            <a:ext cx="1762125" cy="33655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/>
              <a:t>Open Joint</a:t>
            </a:r>
          </a:p>
        </p:txBody>
      </p:sp>
      <p:sp>
        <p:nvSpPr>
          <p:cNvPr id="21512" name="Line 16"/>
          <p:cNvSpPr>
            <a:spLocks noChangeShapeType="1"/>
          </p:cNvSpPr>
          <p:nvPr/>
        </p:nvSpPr>
        <p:spPr bwMode="auto">
          <a:xfrm flipH="1">
            <a:off x="5702300" y="3797300"/>
            <a:ext cx="520700" cy="50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1513" name="Text Box 17"/>
          <p:cNvSpPr txBox="1">
            <a:spLocks noChangeArrowheads="1"/>
          </p:cNvSpPr>
          <p:nvPr/>
        </p:nvSpPr>
        <p:spPr bwMode="auto">
          <a:xfrm>
            <a:off x="2867025" y="5815013"/>
            <a:ext cx="2168525" cy="5810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/>
              <a:t>Crooked Step</a:t>
            </a:r>
          </a:p>
          <a:p>
            <a:pPr algn="ctr"/>
            <a:r>
              <a:rPr lang="en-US" sz="1600" b="1"/>
              <a:t>(error or intended?)</a:t>
            </a:r>
          </a:p>
        </p:txBody>
      </p:sp>
      <p:sp>
        <p:nvSpPr>
          <p:cNvPr id="21514" name="Line 19"/>
          <p:cNvSpPr>
            <a:spLocks noChangeShapeType="1"/>
          </p:cNvSpPr>
          <p:nvPr/>
        </p:nvSpPr>
        <p:spPr bwMode="auto">
          <a:xfrm flipV="1">
            <a:off x="5041900" y="5854700"/>
            <a:ext cx="1612900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1515" name="Line 20"/>
          <p:cNvSpPr>
            <a:spLocks noChangeShapeType="1"/>
          </p:cNvSpPr>
          <p:nvPr/>
        </p:nvSpPr>
        <p:spPr bwMode="auto">
          <a:xfrm flipV="1">
            <a:off x="6223000" y="2705100"/>
            <a:ext cx="317500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49174" name="Rectangle 22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4419600" cy="3683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1800" i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Judging National Model Contest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3" name="Text Box 3"/>
          <p:cNvSpPr txBox="1">
            <a:spLocks noChangeArrowheads="1"/>
          </p:cNvSpPr>
          <p:nvPr/>
        </p:nvSpPr>
        <p:spPr bwMode="auto">
          <a:xfrm>
            <a:off x="998538" y="749300"/>
            <a:ext cx="3975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solidFill>
                  <a:schemeClr val="accent2"/>
                </a:solidFill>
                <a:latin typeface="Arial Black" pitchFamily="34" charset="0"/>
              </a:rPr>
              <a:t>The Neat Little Church</a:t>
            </a:r>
          </a:p>
        </p:txBody>
      </p:sp>
      <p:grpSp>
        <p:nvGrpSpPr>
          <p:cNvPr id="22531" name="Group 21"/>
          <p:cNvGrpSpPr>
            <a:grpSpLocks/>
          </p:cNvGrpSpPr>
          <p:nvPr/>
        </p:nvGrpSpPr>
        <p:grpSpPr bwMode="auto">
          <a:xfrm>
            <a:off x="1651000" y="1238250"/>
            <a:ext cx="6718300" cy="5149850"/>
            <a:chOff x="888" y="740"/>
            <a:chExt cx="4232" cy="3244"/>
          </a:xfrm>
        </p:grpSpPr>
        <p:pic>
          <p:nvPicPr>
            <p:cNvPr id="22533" name="Picture 14" descr="Church Detail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888" y="740"/>
              <a:ext cx="4232" cy="32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2534" name="Text Box 16"/>
            <p:cNvSpPr txBox="1">
              <a:spLocks noChangeArrowheads="1"/>
            </p:cNvSpPr>
            <p:nvPr/>
          </p:nvSpPr>
          <p:spPr bwMode="auto">
            <a:xfrm>
              <a:off x="2286" y="1975"/>
              <a:ext cx="1110" cy="212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600" b="1"/>
                <a:t>Uneven Siding</a:t>
              </a:r>
            </a:p>
          </p:txBody>
        </p:sp>
        <p:sp>
          <p:nvSpPr>
            <p:cNvPr id="22535" name="Line 18"/>
            <p:cNvSpPr>
              <a:spLocks noChangeShapeType="1"/>
            </p:cNvSpPr>
            <p:nvPr/>
          </p:nvSpPr>
          <p:spPr bwMode="auto">
            <a:xfrm flipH="1" flipV="1">
              <a:off x="1584" y="1728"/>
              <a:ext cx="696" cy="3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536" name="Text Box 19"/>
            <p:cNvSpPr txBox="1">
              <a:spLocks noChangeArrowheads="1"/>
            </p:cNvSpPr>
            <p:nvPr/>
          </p:nvSpPr>
          <p:spPr bwMode="auto">
            <a:xfrm>
              <a:off x="3014" y="3431"/>
              <a:ext cx="1110" cy="212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600" b="1"/>
                <a:t>Poor Fit Door</a:t>
              </a:r>
            </a:p>
          </p:txBody>
        </p:sp>
        <p:sp>
          <p:nvSpPr>
            <p:cNvPr id="22537" name="Line 20"/>
            <p:cNvSpPr>
              <a:spLocks noChangeShapeType="1"/>
            </p:cNvSpPr>
            <p:nvPr/>
          </p:nvSpPr>
          <p:spPr bwMode="auto">
            <a:xfrm flipV="1">
              <a:off x="3608" y="2584"/>
              <a:ext cx="560" cy="8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02425" name="Rectangle 25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4330700" cy="3683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1800" i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Judging National Model Contest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1" name="Text Box 3"/>
          <p:cNvSpPr txBox="1">
            <a:spLocks noChangeArrowheads="1"/>
          </p:cNvSpPr>
          <p:nvPr/>
        </p:nvSpPr>
        <p:spPr bwMode="auto">
          <a:xfrm>
            <a:off x="1011238" y="1016000"/>
            <a:ext cx="7766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solidFill>
                  <a:schemeClr val="accent2"/>
                </a:solidFill>
                <a:latin typeface="Arial Black" pitchFamily="34" charset="0"/>
              </a:rPr>
              <a:t>Here is another example. This time it’s glue…</a:t>
            </a:r>
          </a:p>
        </p:txBody>
      </p:sp>
      <p:sp>
        <p:nvSpPr>
          <p:cNvPr id="23555" name="Text Box 4"/>
          <p:cNvSpPr txBox="1">
            <a:spLocks noChangeArrowheads="1"/>
          </p:cNvSpPr>
          <p:nvPr/>
        </p:nvSpPr>
        <p:spPr bwMode="auto">
          <a:xfrm>
            <a:off x="1431925" y="22510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2400">
              <a:latin typeface="Times New Roman" pitchFamily="18" charset="0"/>
            </a:endParaRPr>
          </a:p>
        </p:txBody>
      </p:sp>
      <p:sp>
        <p:nvSpPr>
          <p:cNvPr id="23556" name="Text Box 6"/>
          <p:cNvSpPr txBox="1">
            <a:spLocks noChangeArrowheads="1"/>
          </p:cNvSpPr>
          <p:nvPr/>
        </p:nvSpPr>
        <p:spPr bwMode="auto">
          <a:xfrm>
            <a:off x="2092325" y="5662613"/>
            <a:ext cx="5376863" cy="70167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/>
              <a:t>Scratchbuilt wall with lots of glue spots around</a:t>
            </a:r>
          </a:p>
          <a:p>
            <a:pPr algn="ctr"/>
            <a:r>
              <a:rPr lang="en-US"/>
              <a:t>the windows and quite a sheen on the siding.</a:t>
            </a:r>
          </a:p>
        </p:txBody>
      </p:sp>
      <p:pic>
        <p:nvPicPr>
          <p:cNvPr id="23557" name="Picture 11" descr="Wall glue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727200" y="1679575"/>
            <a:ext cx="5956300" cy="3848100"/>
          </a:xfrm>
          <a:noFill/>
        </p:spPr>
      </p:pic>
      <p:sp>
        <p:nvSpPr>
          <p:cNvPr id="23558" name="Text Box 13"/>
          <p:cNvSpPr txBox="1">
            <a:spLocks noChangeArrowheads="1"/>
          </p:cNvSpPr>
          <p:nvPr/>
        </p:nvSpPr>
        <p:spPr bwMode="auto">
          <a:xfrm>
            <a:off x="2930525" y="3478213"/>
            <a:ext cx="1276350" cy="36671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Glue spots</a:t>
            </a:r>
          </a:p>
        </p:txBody>
      </p:sp>
      <p:sp>
        <p:nvSpPr>
          <p:cNvPr id="23559" name="Line 14"/>
          <p:cNvSpPr>
            <a:spLocks noChangeShapeType="1"/>
          </p:cNvSpPr>
          <p:nvPr/>
        </p:nvSpPr>
        <p:spPr bwMode="auto">
          <a:xfrm flipH="1" flipV="1">
            <a:off x="2120900" y="3111500"/>
            <a:ext cx="819150" cy="539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3560" name="Line 15"/>
          <p:cNvSpPr>
            <a:spLocks noChangeShapeType="1"/>
          </p:cNvSpPr>
          <p:nvPr/>
        </p:nvSpPr>
        <p:spPr bwMode="auto">
          <a:xfrm flipH="1" flipV="1">
            <a:off x="2794000" y="3149600"/>
            <a:ext cx="127000" cy="49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3561" name="Line 16"/>
          <p:cNvSpPr>
            <a:spLocks noChangeShapeType="1"/>
          </p:cNvSpPr>
          <p:nvPr/>
        </p:nvSpPr>
        <p:spPr bwMode="auto">
          <a:xfrm flipH="1">
            <a:off x="2514600" y="3657600"/>
            <a:ext cx="406400" cy="190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3562" name="Line 17"/>
          <p:cNvSpPr>
            <a:spLocks noChangeShapeType="1"/>
          </p:cNvSpPr>
          <p:nvPr/>
        </p:nvSpPr>
        <p:spPr bwMode="auto">
          <a:xfrm>
            <a:off x="4203700" y="3683000"/>
            <a:ext cx="114300" cy="33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3563" name="Line 18"/>
          <p:cNvSpPr>
            <a:spLocks noChangeShapeType="1"/>
          </p:cNvSpPr>
          <p:nvPr/>
        </p:nvSpPr>
        <p:spPr bwMode="auto">
          <a:xfrm>
            <a:off x="4229100" y="3695700"/>
            <a:ext cx="762000" cy="292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3564" name="Line 19"/>
          <p:cNvSpPr>
            <a:spLocks noChangeShapeType="1"/>
          </p:cNvSpPr>
          <p:nvPr/>
        </p:nvSpPr>
        <p:spPr bwMode="auto">
          <a:xfrm flipV="1">
            <a:off x="4203700" y="3251200"/>
            <a:ext cx="876300" cy="412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3565" name="Line 20"/>
          <p:cNvSpPr>
            <a:spLocks noChangeShapeType="1"/>
          </p:cNvSpPr>
          <p:nvPr/>
        </p:nvSpPr>
        <p:spPr bwMode="auto">
          <a:xfrm flipV="1">
            <a:off x="4197350" y="3149600"/>
            <a:ext cx="120650" cy="50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14710" name="Rectangle 22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4419600" cy="3683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1800" i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Judging National Model Contest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tebook">
  <a:themeElements>
    <a:clrScheme name="Notebook 1">
      <a:dk1>
        <a:srgbClr val="000000"/>
      </a:dk1>
      <a:lt1>
        <a:srgbClr val="FEFDE3"/>
      </a:lt1>
      <a:dk2>
        <a:srgbClr val="221304"/>
      </a:dk2>
      <a:lt2>
        <a:srgbClr val="CBBD83"/>
      </a:lt2>
      <a:accent1>
        <a:srgbClr val="A1BD69"/>
      </a:accent1>
      <a:accent2>
        <a:srgbClr val="3694B6"/>
      </a:accent2>
      <a:accent3>
        <a:srgbClr val="FEFEEF"/>
      </a:accent3>
      <a:accent4>
        <a:srgbClr val="000000"/>
      </a:accent4>
      <a:accent5>
        <a:srgbClr val="CDDBB9"/>
      </a:accent5>
      <a:accent6>
        <a:srgbClr val="3086A5"/>
      </a:accent6>
      <a:hlink>
        <a:srgbClr val="660066"/>
      </a:hlink>
      <a:folHlink>
        <a:srgbClr val="666699"/>
      </a:folHlink>
    </a:clrScheme>
    <a:fontScheme name="Notebook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Notebook 1">
        <a:dk1>
          <a:srgbClr val="000000"/>
        </a:dk1>
        <a:lt1>
          <a:srgbClr val="FEFDE3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EFEE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tebook 2">
        <a:dk1>
          <a:srgbClr val="000000"/>
        </a:dk1>
        <a:lt1>
          <a:srgbClr val="FFFFFF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FFFF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tebook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Designs\Notebook.pot</Template>
  <TotalTime>4451</TotalTime>
  <Words>839</Words>
  <Application>Microsoft Office PowerPoint</Application>
  <PresentationFormat>On-screen Show (4:3)</PresentationFormat>
  <Paragraphs>174</Paragraphs>
  <Slides>20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Notebook</vt:lpstr>
      <vt:lpstr>Photo Editor Photo</vt:lpstr>
      <vt:lpstr>Worksheet</vt:lpstr>
      <vt:lpstr>Judging the National Model Contest </vt:lpstr>
      <vt:lpstr>Judging National Model Contest</vt:lpstr>
      <vt:lpstr>Judging National Model Contest</vt:lpstr>
      <vt:lpstr>PowerPoint Presentation</vt:lpstr>
      <vt:lpstr>PowerPoint Presentation</vt:lpstr>
      <vt:lpstr>Judging National Model Contest</vt:lpstr>
      <vt:lpstr>Judging National Model Contest</vt:lpstr>
      <vt:lpstr>Judging National Model Contest</vt:lpstr>
      <vt:lpstr>Judging National Model Contest</vt:lpstr>
      <vt:lpstr>Judging National Model Contest</vt:lpstr>
      <vt:lpstr>Judging National Model Contest</vt:lpstr>
      <vt:lpstr>Judging National Model Contest</vt:lpstr>
      <vt:lpstr>Judging National Model Contest</vt:lpstr>
      <vt:lpstr>Judging National Model Contest</vt:lpstr>
      <vt:lpstr>Judging National Model Contest</vt:lpstr>
      <vt:lpstr>Judging National Model Contest</vt:lpstr>
      <vt:lpstr>Judging National Model Contest</vt:lpstr>
      <vt:lpstr>Judging National Model Contest</vt:lpstr>
      <vt:lpstr>Judging National Model Contest</vt:lpstr>
      <vt:lpstr>Judging National Model Contest</vt:lpstr>
    </vt:vector>
  </TitlesOfParts>
  <Company>Plug Power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 WITH FORMS</dc:title>
  <dc:creator>RHamm</dc:creator>
  <cp:lastModifiedBy>Ackmann Family</cp:lastModifiedBy>
  <cp:revision>142</cp:revision>
  <cp:lastPrinted>2023-03-21T17:22:57Z</cp:lastPrinted>
  <dcterms:created xsi:type="dcterms:W3CDTF">2005-05-10T16:13:09Z</dcterms:created>
  <dcterms:modified xsi:type="dcterms:W3CDTF">2026-05-18T19:51:59Z</dcterms:modified>
</cp:coreProperties>
</file>